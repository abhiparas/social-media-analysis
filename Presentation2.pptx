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9" r:id="rId3"/>
    <p:sldId id="258" r:id="rId4"/>
    <p:sldId id="257" r:id="rId5"/>
    <p:sldId id="272" r:id="rId6"/>
    <p:sldId id="260" r:id="rId7"/>
    <p:sldId id="261" r:id="rId8"/>
    <p:sldId id="263" r:id="rId9"/>
    <p:sldId id="264" r:id="rId10"/>
    <p:sldId id="265" r:id="rId11"/>
    <p:sldId id="266" r:id="rId12"/>
    <p:sldId id="268" r:id="rId13"/>
    <p:sldId id="269" r:id="rId14"/>
    <p:sldId id="267" r:id="rId15"/>
    <p:sldId id="273"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newchart4.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newchart5.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newchart6.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q8.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LL\Desktop\hi1.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LL\Desktop\q9.csv"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[newchart4.csv]newchart4!PivotTable1</c:name>
    <c:fmtId val="3"/>
  </c:pivotSource>
  <c:chart>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s>
    <c:plotArea>
      <c:layout>
        <c:manualLayout>
          <c:layoutTarget val="inner"/>
          <c:xMode val="edge"/>
          <c:yMode val="edge"/>
          <c:x val="8.5730628012787705E-2"/>
          <c:y val="3.3838630233563816E-2"/>
          <c:w val="0.68356837682981897"/>
          <c:h val="0.66441031390791683"/>
        </c:manualLayout>
      </c:layout>
      <c:barChart>
        <c:barDir val="col"/>
        <c:grouping val="clustered"/>
        <c:varyColors val="0"/>
        <c:ser>
          <c:idx val="0"/>
          <c:order val="0"/>
          <c:tx>
            <c:strRef>
              <c:f>newchart4!$I$3</c:f>
              <c:strCache>
                <c:ptCount val="1"/>
                <c:pt idx="0">
                  <c:v> total_likes</c:v>
                </c:pt>
              </c:strCache>
            </c:strRef>
          </c:tx>
          <c:spPr>
            <a:solidFill>
              <a:schemeClr val="accent1"/>
            </a:solidFill>
            <a:ln>
              <a:noFill/>
            </a:ln>
            <a:effectLst/>
          </c:spPr>
          <c:invertIfNegative val="0"/>
          <c:cat>
            <c:strRef>
              <c:f>newchart4!$H$4:$H$78</c:f>
              <c:strCache>
                <c:ptCount val="74"/>
                <c:pt idx="0">
                  <c:v>Adelle96</c:v>
                </c:pt>
                <c:pt idx="1">
                  <c:v>Aiyana_Hoeger</c:v>
                </c:pt>
                <c:pt idx="2">
                  <c:v>Alek_Watsica</c:v>
                </c:pt>
                <c:pt idx="3">
                  <c:v>Alexandro35</c:v>
                </c:pt>
                <c:pt idx="4">
                  <c:v>Alysa22</c:v>
                </c:pt>
                <c:pt idx="5">
                  <c:v>Andre_Purdy85</c:v>
                </c:pt>
                <c:pt idx="6">
                  <c:v>Annalise.McKenzie16</c:v>
                </c:pt>
                <c:pt idx="7">
                  <c:v>Aracely.Johnston98</c:v>
                </c:pt>
                <c:pt idx="8">
                  <c:v>Arely_Bogan63</c:v>
                </c:pt>
                <c:pt idx="9">
                  <c:v>Aurelie71</c:v>
                </c:pt>
                <c:pt idx="10">
                  <c:v>Billy52</c:v>
                </c:pt>
                <c:pt idx="11">
                  <c:v>Cesar93</c:v>
                </c:pt>
                <c:pt idx="12">
                  <c:v>Clint27</c:v>
                </c:pt>
                <c:pt idx="13">
                  <c:v>Colten.Harris76</c:v>
                </c:pt>
                <c:pt idx="14">
                  <c:v>Damon35</c:v>
                </c:pt>
                <c:pt idx="15">
                  <c:v>Dario77</c:v>
                </c:pt>
                <c:pt idx="16">
                  <c:v>Darwin29</c:v>
                </c:pt>
                <c:pt idx="17">
                  <c:v>Delfina_VonRueden68</c:v>
                </c:pt>
                <c:pt idx="18">
                  <c:v>Delpha.Kihn</c:v>
                </c:pt>
                <c:pt idx="19">
                  <c:v>Dereck65</c:v>
                </c:pt>
                <c:pt idx="20">
                  <c:v>Donald.Fritsch</c:v>
                </c:pt>
                <c:pt idx="21">
                  <c:v>Elenor88</c:v>
                </c:pt>
                <c:pt idx="22">
                  <c:v>Emilio_Bernier52</c:v>
                </c:pt>
                <c:pt idx="23">
                  <c:v>Erick5</c:v>
                </c:pt>
                <c:pt idx="24">
                  <c:v>Eveline95</c:v>
                </c:pt>
                <c:pt idx="25">
                  <c:v>Florence99</c:v>
                </c:pt>
                <c:pt idx="26">
                  <c:v>Frederik_Rice</c:v>
                </c:pt>
                <c:pt idx="27">
                  <c:v>Gerard79</c:v>
                </c:pt>
                <c:pt idx="28">
                  <c:v>Granville_Kutch</c:v>
                </c:pt>
                <c:pt idx="29">
                  <c:v>Gus93</c:v>
                </c:pt>
                <c:pt idx="30">
                  <c:v>Hailee26</c:v>
                </c:pt>
                <c:pt idx="31">
                  <c:v>Harley_Lind18</c:v>
                </c:pt>
                <c:pt idx="32">
                  <c:v>Harrison.Beatty50</c:v>
                </c:pt>
                <c:pt idx="33">
                  <c:v>Imani_Nicolas17</c:v>
                </c:pt>
                <c:pt idx="34">
                  <c:v>Irwin.Larson</c:v>
                </c:pt>
                <c:pt idx="35">
                  <c:v>Jaime53</c:v>
                </c:pt>
                <c:pt idx="36">
                  <c:v>Janet.Armstrong</c:v>
                </c:pt>
                <c:pt idx="37">
                  <c:v>Javonte83</c:v>
                </c:pt>
                <c:pt idx="38">
                  <c:v>Jaylan.Lakin</c:v>
                </c:pt>
                <c:pt idx="39">
                  <c:v>Jayson65</c:v>
                </c:pt>
                <c:pt idx="40">
                  <c:v>Jordyn.Jacobson2</c:v>
                </c:pt>
                <c:pt idx="41">
                  <c:v>Josianne.Friesen</c:v>
                </c:pt>
                <c:pt idx="42">
                  <c:v>Justina.Gaylord27</c:v>
                </c:pt>
                <c:pt idx="43">
                  <c:v>Kaley9</c:v>
                </c:pt>
                <c:pt idx="44">
                  <c:v>Karley_Bosco</c:v>
                </c:pt>
                <c:pt idx="45">
                  <c:v>Katarina.Dibbert</c:v>
                </c:pt>
                <c:pt idx="46">
                  <c:v>Kathryn80</c:v>
                </c:pt>
                <c:pt idx="47">
                  <c:v>Keenan.Schamberger60</c:v>
                </c:pt>
                <c:pt idx="48">
                  <c:v>Kelsi26</c:v>
                </c:pt>
                <c:pt idx="49">
                  <c:v>Kenneth64</c:v>
                </c:pt>
                <c:pt idx="50">
                  <c:v>Kenton_Kirlin</c:v>
                </c:pt>
                <c:pt idx="51">
                  <c:v>Lennie_Hartmann40</c:v>
                </c:pt>
                <c:pt idx="52">
                  <c:v>Malinda_Streich</c:v>
                </c:pt>
                <c:pt idx="53">
                  <c:v>Mariano_Koch3</c:v>
                </c:pt>
                <c:pt idx="54">
                  <c:v>Maya.Farrell</c:v>
                </c:pt>
                <c:pt idx="55">
                  <c:v>Meggie_Doyle</c:v>
                </c:pt>
                <c:pt idx="56">
                  <c:v>Milford_Gleichner42</c:v>
                </c:pt>
                <c:pt idx="57">
                  <c:v>Nicole71</c:v>
                </c:pt>
                <c:pt idx="58">
                  <c:v>Norbert_Carroll35</c:v>
                </c:pt>
                <c:pt idx="59">
                  <c:v>Odessa2</c:v>
                </c:pt>
                <c:pt idx="60">
                  <c:v>Peter.Stehr0</c:v>
                </c:pt>
                <c:pt idx="61">
                  <c:v>Presley_McClure</c:v>
                </c:pt>
                <c:pt idx="62">
                  <c:v>Rafael.Hickle2</c:v>
                </c:pt>
                <c:pt idx="63">
                  <c:v>Ressie_Stanton46</c:v>
                </c:pt>
                <c:pt idx="64">
                  <c:v>Rick29</c:v>
                </c:pt>
                <c:pt idx="65">
                  <c:v>Sam52</c:v>
                </c:pt>
                <c:pt idx="66">
                  <c:v>Seth46</c:v>
                </c:pt>
                <c:pt idx="67">
                  <c:v>Tabitha_Schamberger11</c:v>
                </c:pt>
                <c:pt idx="68">
                  <c:v>Tomas.Beatty93</c:v>
                </c:pt>
                <c:pt idx="69">
                  <c:v>Travon.Waters</c:v>
                </c:pt>
                <c:pt idx="70">
                  <c:v>Willie_Leuschke</c:v>
                </c:pt>
                <c:pt idx="71">
                  <c:v>Yazmin_Mills95</c:v>
                </c:pt>
                <c:pt idx="72">
                  <c:v>Yvette.Gottlieb91</c:v>
                </c:pt>
                <c:pt idx="73">
                  <c:v>Zack_Kemmer93</c:v>
                </c:pt>
              </c:strCache>
            </c:strRef>
          </c:cat>
          <c:val>
            <c:numRef>
              <c:f>newchart4!$I$4:$I$78</c:f>
              <c:numCache>
                <c:formatCode>General</c:formatCode>
                <c:ptCount val="74"/>
                <c:pt idx="0">
                  <c:v>179</c:v>
                </c:pt>
                <c:pt idx="1">
                  <c:v>28</c:v>
                </c:pt>
                <c:pt idx="2">
                  <c:v>96</c:v>
                </c:pt>
                <c:pt idx="3">
                  <c:v>181</c:v>
                </c:pt>
                <c:pt idx="4">
                  <c:v>73</c:v>
                </c:pt>
                <c:pt idx="5">
                  <c:v>127</c:v>
                </c:pt>
                <c:pt idx="6">
                  <c:v>137</c:v>
                </c:pt>
                <c:pt idx="7">
                  <c:v>72</c:v>
                </c:pt>
                <c:pt idx="8">
                  <c:v>106</c:v>
                </c:pt>
                <c:pt idx="9">
                  <c:v>280</c:v>
                </c:pt>
                <c:pt idx="10">
                  <c:v>129</c:v>
                </c:pt>
                <c:pt idx="11">
                  <c:v>338</c:v>
                </c:pt>
                <c:pt idx="12">
                  <c:v>361</c:v>
                </c:pt>
                <c:pt idx="13">
                  <c:v>177</c:v>
                </c:pt>
                <c:pt idx="14">
                  <c:v>40</c:v>
                </c:pt>
                <c:pt idx="15">
                  <c:v>139</c:v>
                </c:pt>
                <c:pt idx="16">
                  <c:v>35</c:v>
                </c:pt>
                <c:pt idx="17">
                  <c:v>285</c:v>
                </c:pt>
                <c:pt idx="18">
                  <c:v>41</c:v>
                </c:pt>
                <c:pt idx="19">
                  <c:v>140</c:v>
                </c:pt>
                <c:pt idx="20">
                  <c:v>218</c:v>
                </c:pt>
                <c:pt idx="21">
                  <c:v>135</c:v>
                </c:pt>
                <c:pt idx="22">
                  <c:v>97</c:v>
                </c:pt>
                <c:pt idx="23">
                  <c:v>36</c:v>
                </c:pt>
                <c:pt idx="24">
                  <c:v>420</c:v>
                </c:pt>
                <c:pt idx="25">
                  <c:v>175</c:v>
                </c:pt>
                <c:pt idx="26">
                  <c:v>98</c:v>
                </c:pt>
                <c:pt idx="27">
                  <c:v>98</c:v>
                </c:pt>
                <c:pt idx="28">
                  <c:v>37</c:v>
                </c:pt>
                <c:pt idx="29">
                  <c:v>130</c:v>
                </c:pt>
                <c:pt idx="30">
                  <c:v>69</c:v>
                </c:pt>
                <c:pt idx="31">
                  <c:v>132</c:v>
                </c:pt>
                <c:pt idx="32">
                  <c:v>151</c:v>
                </c:pt>
                <c:pt idx="33">
                  <c:v>34</c:v>
                </c:pt>
                <c:pt idx="34">
                  <c:v>140</c:v>
                </c:pt>
                <c:pt idx="35">
                  <c:v>271</c:v>
                </c:pt>
                <c:pt idx="36">
                  <c:v>180</c:v>
                </c:pt>
                <c:pt idx="37">
                  <c:v>77</c:v>
                </c:pt>
                <c:pt idx="38">
                  <c:v>38</c:v>
                </c:pt>
                <c:pt idx="39">
                  <c:v>38</c:v>
                </c:pt>
                <c:pt idx="40">
                  <c:v>62</c:v>
                </c:pt>
                <c:pt idx="41">
                  <c:v>168</c:v>
                </c:pt>
                <c:pt idx="42">
                  <c:v>166</c:v>
                </c:pt>
                <c:pt idx="43">
                  <c:v>65</c:v>
                </c:pt>
                <c:pt idx="44">
                  <c:v>36</c:v>
                </c:pt>
                <c:pt idx="45">
                  <c:v>29</c:v>
                </c:pt>
                <c:pt idx="46">
                  <c:v>157</c:v>
                </c:pt>
                <c:pt idx="47">
                  <c:v>99</c:v>
                </c:pt>
                <c:pt idx="48">
                  <c:v>39</c:v>
                </c:pt>
                <c:pt idx="49">
                  <c:v>39</c:v>
                </c:pt>
                <c:pt idx="50">
                  <c:v>168</c:v>
                </c:pt>
                <c:pt idx="51">
                  <c:v>69</c:v>
                </c:pt>
                <c:pt idx="52">
                  <c:v>145</c:v>
                </c:pt>
                <c:pt idx="53">
                  <c:v>163</c:v>
                </c:pt>
                <c:pt idx="54">
                  <c:v>103</c:v>
                </c:pt>
                <c:pt idx="55">
                  <c:v>41</c:v>
                </c:pt>
                <c:pt idx="56">
                  <c:v>64</c:v>
                </c:pt>
                <c:pt idx="57">
                  <c:v>64</c:v>
                </c:pt>
                <c:pt idx="58">
                  <c:v>108</c:v>
                </c:pt>
                <c:pt idx="59">
                  <c:v>36</c:v>
                </c:pt>
                <c:pt idx="60">
                  <c:v>33</c:v>
                </c:pt>
                <c:pt idx="61">
                  <c:v>105</c:v>
                </c:pt>
                <c:pt idx="62">
                  <c:v>33</c:v>
                </c:pt>
                <c:pt idx="63">
                  <c:v>70</c:v>
                </c:pt>
                <c:pt idx="64">
                  <c:v>140</c:v>
                </c:pt>
                <c:pt idx="65">
                  <c:v>63</c:v>
                </c:pt>
                <c:pt idx="66">
                  <c:v>146</c:v>
                </c:pt>
                <c:pt idx="67">
                  <c:v>137</c:v>
                </c:pt>
                <c:pt idx="68">
                  <c:v>59</c:v>
                </c:pt>
                <c:pt idx="69">
                  <c:v>173</c:v>
                </c:pt>
                <c:pt idx="70">
                  <c:v>68</c:v>
                </c:pt>
                <c:pt idx="71">
                  <c:v>39</c:v>
                </c:pt>
                <c:pt idx="72">
                  <c:v>175</c:v>
                </c:pt>
                <c:pt idx="73">
                  <c:v>182</c:v>
                </c:pt>
              </c:numCache>
            </c:numRef>
          </c:val>
        </c:ser>
        <c:ser>
          <c:idx val="1"/>
          <c:order val="1"/>
          <c:tx>
            <c:strRef>
              <c:f>newchart4!$J$3</c:f>
              <c:strCache>
                <c:ptCount val="1"/>
                <c:pt idx="0">
                  <c:v> total_comments</c:v>
                </c:pt>
              </c:strCache>
            </c:strRef>
          </c:tx>
          <c:spPr>
            <a:solidFill>
              <a:schemeClr val="accent2"/>
            </a:solidFill>
            <a:ln>
              <a:noFill/>
            </a:ln>
            <a:effectLst/>
          </c:spPr>
          <c:invertIfNegative val="0"/>
          <c:cat>
            <c:strRef>
              <c:f>newchart4!$H$4:$H$78</c:f>
              <c:strCache>
                <c:ptCount val="74"/>
                <c:pt idx="0">
                  <c:v>Adelle96</c:v>
                </c:pt>
                <c:pt idx="1">
                  <c:v>Aiyana_Hoeger</c:v>
                </c:pt>
                <c:pt idx="2">
                  <c:v>Alek_Watsica</c:v>
                </c:pt>
                <c:pt idx="3">
                  <c:v>Alexandro35</c:v>
                </c:pt>
                <c:pt idx="4">
                  <c:v>Alysa22</c:v>
                </c:pt>
                <c:pt idx="5">
                  <c:v>Andre_Purdy85</c:v>
                </c:pt>
                <c:pt idx="6">
                  <c:v>Annalise.McKenzie16</c:v>
                </c:pt>
                <c:pt idx="7">
                  <c:v>Aracely.Johnston98</c:v>
                </c:pt>
                <c:pt idx="8">
                  <c:v>Arely_Bogan63</c:v>
                </c:pt>
                <c:pt idx="9">
                  <c:v>Aurelie71</c:v>
                </c:pt>
                <c:pt idx="10">
                  <c:v>Billy52</c:v>
                </c:pt>
                <c:pt idx="11">
                  <c:v>Cesar93</c:v>
                </c:pt>
                <c:pt idx="12">
                  <c:v>Clint27</c:v>
                </c:pt>
                <c:pt idx="13">
                  <c:v>Colten.Harris76</c:v>
                </c:pt>
                <c:pt idx="14">
                  <c:v>Damon35</c:v>
                </c:pt>
                <c:pt idx="15">
                  <c:v>Dario77</c:v>
                </c:pt>
                <c:pt idx="16">
                  <c:v>Darwin29</c:v>
                </c:pt>
                <c:pt idx="17">
                  <c:v>Delfina_VonRueden68</c:v>
                </c:pt>
                <c:pt idx="18">
                  <c:v>Delpha.Kihn</c:v>
                </c:pt>
                <c:pt idx="19">
                  <c:v>Dereck65</c:v>
                </c:pt>
                <c:pt idx="20">
                  <c:v>Donald.Fritsch</c:v>
                </c:pt>
                <c:pt idx="21">
                  <c:v>Elenor88</c:v>
                </c:pt>
                <c:pt idx="22">
                  <c:v>Emilio_Bernier52</c:v>
                </c:pt>
                <c:pt idx="23">
                  <c:v>Erick5</c:v>
                </c:pt>
                <c:pt idx="24">
                  <c:v>Eveline95</c:v>
                </c:pt>
                <c:pt idx="25">
                  <c:v>Florence99</c:v>
                </c:pt>
                <c:pt idx="26">
                  <c:v>Frederik_Rice</c:v>
                </c:pt>
                <c:pt idx="27">
                  <c:v>Gerard79</c:v>
                </c:pt>
                <c:pt idx="28">
                  <c:v>Granville_Kutch</c:v>
                </c:pt>
                <c:pt idx="29">
                  <c:v>Gus93</c:v>
                </c:pt>
                <c:pt idx="30">
                  <c:v>Hailee26</c:v>
                </c:pt>
                <c:pt idx="31">
                  <c:v>Harley_Lind18</c:v>
                </c:pt>
                <c:pt idx="32">
                  <c:v>Harrison.Beatty50</c:v>
                </c:pt>
                <c:pt idx="33">
                  <c:v>Imani_Nicolas17</c:v>
                </c:pt>
                <c:pt idx="34">
                  <c:v>Irwin.Larson</c:v>
                </c:pt>
                <c:pt idx="35">
                  <c:v>Jaime53</c:v>
                </c:pt>
                <c:pt idx="36">
                  <c:v>Janet.Armstrong</c:v>
                </c:pt>
                <c:pt idx="37">
                  <c:v>Javonte83</c:v>
                </c:pt>
                <c:pt idx="38">
                  <c:v>Jaylan.Lakin</c:v>
                </c:pt>
                <c:pt idx="39">
                  <c:v>Jayson65</c:v>
                </c:pt>
                <c:pt idx="40">
                  <c:v>Jordyn.Jacobson2</c:v>
                </c:pt>
                <c:pt idx="41">
                  <c:v>Josianne.Friesen</c:v>
                </c:pt>
                <c:pt idx="42">
                  <c:v>Justina.Gaylord27</c:v>
                </c:pt>
                <c:pt idx="43">
                  <c:v>Kaley9</c:v>
                </c:pt>
                <c:pt idx="44">
                  <c:v>Karley_Bosco</c:v>
                </c:pt>
                <c:pt idx="45">
                  <c:v>Katarina.Dibbert</c:v>
                </c:pt>
                <c:pt idx="46">
                  <c:v>Kathryn80</c:v>
                </c:pt>
                <c:pt idx="47">
                  <c:v>Keenan.Schamberger60</c:v>
                </c:pt>
                <c:pt idx="48">
                  <c:v>Kelsi26</c:v>
                </c:pt>
                <c:pt idx="49">
                  <c:v>Kenneth64</c:v>
                </c:pt>
                <c:pt idx="50">
                  <c:v>Kenton_Kirlin</c:v>
                </c:pt>
                <c:pt idx="51">
                  <c:v>Lennie_Hartmann40</c:v>
                </c:pt>
                <c:pt idx="52">
                  <c:v>Malinda_Streich</c:v>
                </c:pt>
                <c:pt idx="53">
                  <c:v>Mariano_Koch3</c:v>
                </c:pt>
                <c:pt idx="54">
                  <c:v>Maya.Farrell</c:v>
                </c:pt>
                <c:pt idx="55">
                  <c:v>Meggie_Doyle</c:v>
                </c:pt>
                <c:pt idx="56">
                  <c:v>Milford_Gleichner42</c:v>
                </c:pt>
                <c:pt idx="57">
                  <c:v>Nicole71</c:v>
                </c:pt>
                <c:pt idx="58">
                  <c:v>Norbert_Carroll35</c:v>
                </c:pt>
                <c:pt idx="59">
                  <c:v>Odessa2</c:v>
                </c:pt>
                <c:pt idx="60">
                  <c:v>Peter.Stehr0</c:v>
                </c:pt>
                <c:pt idx="61">
                  <c:v>Presley_McClure</c:v>
                </c:pt>
                <c:pt idx="62">
                  <c:v>Rafael.Hickle2</c:v>
                </c:pt>
                <c:pt idx="63">
                  <c:v>Ressie_Stanton46</c:v>
                </c:pt>
                <c:pt idx="64">
                  <c:v>Rick29</c:v>
                </c:pt>
                <c:pt idx="65">
                  <c:v>Sam52</c:v>
                </c:pt>
                <c:pt idx="66">
                  <c:v>Seth46</c:v>
                </c:pt>
                <c:pt idx="67">
                  <c:v>Tabitha_Schamberger11</c:v>
                </c:pt>
                <c:pt idx="68">
                  <c:v>Tomas.Beatty93</c:v>
                </c:pt>
                <c:pt idx="69">
                  <c:v>Travon.Waters</c:v>
                </c:pt>
                <c:pt idx="70">
                  <c:v>Willie_Leuschke</c:v>
                </c:pt>
                <c:pt idx="71">
                  <c:v>Yazmin_Mills95</c:v>
                </c:pt>
                <c:pt idx="72">
                  <c:v>Yvette.Gottlieb91</c:v>
                </c:pt>
                <c:pt idx="73">
                  <c:v>Zack_Kemmer93</c:v>
                </c:pt>
              </c:strCache>
            </c:strRef>
          </c:cat>
          <c:val>
            <c:numRef>
              <c:f>newchart4!$J$4:$J$78</c:f>
              <c:numCache>
                <c:formatCode>General</c:formatCode>
                <c:ptCount val="74"/>
                <c:pt idx="0">
                  <c:v>142</c:v>
                </c:pt>
                <c:pt idx="1">
                  <c:v>35</c:v>
                </c:pt>
                <c:pt idx="2">
                  <c:v>81</c:v>
                </c:pt>
                <c:pt idx="3">
                  <c:v>148</c:v>
                </c:pt>
                <c:pt idx="4">
                  <c:v>55</c:v>
                </c:pt>
                <c:pt idx="5">
                  <c:v>119</c:v>
                </c:pt>
                <c:pt idx="6">
                  <c:v>126</c:v>
                </c:pt>
                <c:pt idx="7">
                  <c:v>61</c:v>
                </c:pt>
                <c:pt idx="8">
                  <c:v>77</c:v>
                </c:pt>
                <c:pt idx="9">
                  <c:v>242</c:v>
                </c:pt>
                <c:pt idx="10">
                  <c:v>115</c:v>
                </c:pt>
                <c:pt idx="11">
                  <c:v>308</c:v>
                </c:pt>
                <c:pt idx="12">
                  <c:v>299</c:v>
                </c:pt>
                <c:pt idx="13">
                  <c:v>143</c:v>
                </c:pt>
                <c:pt idx="14">
                  <c:v>28</c:v>
                </c:pt>
                <c:pt idx="15">
                  <c:v>113</c:v>
                </c:pt>
                <c:pt idx="16">
                  <c:v>29</c:v>
                </c:pt>
                <c:pt idx="17">
                  <c:v>273</c:v>
                </c:pt>
                <c:pt idx="18">
                  <c:v>24</c:v>
                </c:pt>
                <c:pt idx="19">
                  <c:v>117</c:v>
                </c:pt>
                <c:pt idx="20">
                  <c:v>174</c:v>
                </c:pt>
                <c:pt idx="21">
                  <c:v>123</c:v>
                </c:pt>
                <c:pt idx="22">
                  <c:v>87</c:v>
                </c:pt>
                <c:pt idx="23">
                  <c:v>29</c:v>
                </c:pt>
                <c:pt idx="24">
                  <c:v>329</c:v>
                </c:pt>
                <c:pt idx="25">
                  <c:v>145</c:v>
                </c:pt>
                <c:pt idx="26">
                  <c:v>92</c:v>
                </c:pt>
                <c:pt idx="27">
                  <c:v>88</c:v>
                </c:pt>
                <c:pt idx="28">
                  <c:v>34</c:v>
                </c:pt>
                <c:pt idx="29">
                  <c:v>126</c:v>
                </c:pt>
                <c:pt idx="30">
                  <c:v>56</c:v>
                </c:pt>
                <c:pt idx="31">
                  <c:v>117</c:v>
                </c:pt>
                <c:pt idx="32">
                  <c:v>146</c:v>
                </c:pt>
                <c:pt idx="33">
                  <c:v>24</c:v>
                </c:pt>
                <c:pt idx="34">
                  <c:v>118</c:v>
                </c:pt>
                <c:pt idx="35">
                  <c:v>229</c:v>
                </c:pt>
                <c:pt idx="36">
                  <c:v>154</c:v>
                </c:pt>
                <c:pt idx="37">
                  <c:v>53</c:v>
                </c:pt>
                <c:pt idx="38">
                  <c:v>35</c:v>
                </c:pt>
                <c:pt idx="39">
                  <c:v>28</c:v>
                </c:pt>
                <c:pt idx="40">
                  <c:v>60</c:v>
                </c:pt>
                <c:pt idx="41">
                  <c:v>141</c:v>
                </c:pt>
                <c:pt idx="42">
                  <c:v>147</c:v>
                </c:pt>
                <c:pt idx="43">
                  <c:v>59</c:v>
                </c:pt>
                <c:pt idx="44">
                  <c:v>32</c:v>
                </c:pt>
                <c:pt idx="45">
                  <c:v>30</c:v>
                </c:pt>
                <c:pt idx="46">
                  <c:v>148</c:v>
                </c:pt>
                <c:pt idx="47">
                  <c:v>98</c:v>
                </c:pt>
                <c:pt idx="48">
                  <c:v>27</c:v>
                </c:pt>
                <c:pt idx="49">
                  <c:v>31</c:v>
                </c:pt>
                <c:pt idx="50">
                  <c:v>142</c:v>
                </c:pt>
                <c:pt idx="51">
                  <c:v>53</c:v>
                </c:pt>
                <c:pt idx="52">
                  <c:v>121</c:v>
                </c:pt>
                <c:pt idx="53">
                  <c:v>142</c:v>
                </c:pt>
                <c:pt idx="54">
                  <c:v>87</c:v>
                </c:pt>
                <c:pt idx="55">
                  <c:v>34</c:v>
                </c:pt>
                <c:pt idx="56">
                  <c:v>51</c:v>
                </c:pt>
                <c:pt idx="57">
                  <c:v>55</c:v>
                </c:pt>
                <c:pt idx="58">
                  <c:v>83</c:v>
                </c:pt>
                <c:pt idx="59">
                  <c:v>31</c:v>
                </c:pt>
                <c:pt idx="60">
                  <c:v>28</c:v>
                </c:pt>
                <c:pt idx="61">
                  <c:v>90</c:v>
                </c:pt>
                <c:pt idx="62">
                  <c:v>26</c:v>
                </c:pt>
                <c:pt idx="63">
                  <c:v>62</c:v>
                </c:pt>
                <c:pt idx="64">
                  <c:v>132</c:v>
                </c:pt>
                <c:pt idx="65">
                  <c:v>58</c:v>
                </c:pt>
                <c:pt idx="66">
                  <c:v>118</c:v>
                </c:pt>
                <c:pt idx="67">
                  <c:v>119</c:v>
                </c:pt>
                <c:pt idx="68">
                  <c:v>47</c:v>
                </c:pt>
                <c:pt idx="69">
                  <c:v>139</c:v>
                </c:pt>
                <c:pt idx="70">
                  <c:v>57</c:v>
                </c:pt>
                <c:pt idx="71">
                  <c:v>26</c:v>
                </c:pt>
                <c:pt idx="72">
                  <c:v>141</c:v>
                </c:pt>
                <c:pt idx="73">
                  <c:v>151</c:v>
                </c:pt>
              </c:numCache>
            </c:numRef>
          </c:val>
        </c:ser>
        <c:dLbls>
          <c:showLegendKey val="0"/>
          <c:showVal val="0"/>
          <c:showCatName val="0"/>
          <c:showSerName val="0"/>
          <c:showPercent val="0"/>
          <c:showBubbleSize val="0"/>
        </c:dLbls>
        <c:gapWidth val="219"/>
        <c:overlap val="-27"/>
        <c:axId val="229054296"/>
        <c:axId val="229058216"/>
      </c:barChart>
      <c:catAx>
        <c:axId val="229054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8216"/>
        <c:crosses val="autoZero"/>
        <c:auto val="1"/>
        <c:lblAlgn val="ctr"/>
        <c:lblOffset val="100"/>
        <c:noMultiLvlLbl val="0"/>
      </c:catAx>
      <c:valAx>
        <c:axId val="229058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4296"/>
        <c:crosses val="autoZero"/>
        <c:crossBetween val="between"/>
      </c:valAx>
      <c:spPr>
        <a:noFill/>
        <a:ln>
          <a:noFill/>
        </a:ln>
        <a:effectLst/>
      </c:spPr>
    </c:plotArea>
    <c:legend>
      <c:legendPos val="r"/>
      <c:layout>
        <c:manualLayout>
          <c:xMode val="edge"/>
          <c:yMode val="edge"/>
          <c:x val="0.79742490013495193"/>
          <c:y val="0.20264250393074329"/>
          <c:w val="0.20001820029301667"/>
          <c:h val="0.2055704780066222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User Activity &amp; Engagement at peak hour(6 PM)</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newchart5!$B$1:$D$1</c:f>
              <c:strCache>
                <c:ptCount val="3"/>
                <c:pt idx="0">
                  <c:v>total_posts</c:v>
                </c:pt>
                <c:pt idx="1">
                  <c:v>total_likes</c:v>
                </c:pt>
                <c:pt idx="2">
                  <c:v>total_comments</c:v>
                </c:pt>
              </c:strCache>
            </c:strRef>
          </c:cat>
          <c:val>
            <c:numRef>
              <c:f>newchart5!$B$2:$D$2</c:f>
              <c:numCache>
                <c:formatCode>General</c:formatCode>
                <c:ptCount val="3"/>
                <c:pt idx="0">
                  <c:v>257</c:v>
                </c:pt>
                <c:pt idx="1">
                  <c:v>8782</c:v>
                </c:pt>
                <c:pt idx="2">
                  <c:v>7488</c:v>
                </c:pt>
              </c:numCache>
            </c:numRef>
          </c:val>
        </c:ser>
        <c:dLbls>
          <c:dLblPos val="outEnd"/>
          <c:showLegendKey val="0"/>
          <c:showVal val="1"/>
          <c:showCatName val="0"/>
          <c:showSerName val="0"/>
          <c:showPercent val="0"/>
          <c:showBubbleSize val="0"/>
        </c:dLbls>
        <c:gapWidth val="219"/>
        <c:overlap val="-27"/>
        <c:axId val="229052728"/>
        <c:axId val="229058608"/>
      </c:barChart>
      <c:catAx>
        <c:axId val="229052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8608"/>
        <c:crosses val="autoZero"/>
        <c:auto val="1"/>
        <c:lblAlgn val="ctr"/>
        <c:lblOffset val="100"/>
        <c:noMultiLvlLbl val="0"/>
      </c:catAx>
      <c:valAx>
        <c:axId val="229058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27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smtClean="0"/>
              <a:t>Engagement Composition Across Active Users</a:t>
            </a:r>
            <a:endParaRPr lang="en-IN"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newchart6!$C$1</c:f>
              <c:strCache>
                <c:ptCount val="1"/>
                <c:pt idx="0">
                  <c:v>total_likes_received</c:v>
                </c:pt>
              </c:strCache>
            </c:strRef>
          </c:tx>
          <c:spPr>
            <a:solidFill>
              <a:schemeClr val="accent1"/>
            </a:solidFill>
            <a:ln>
              <a:noFill/>
            </a:ln>
            <a:effectLst/>
          </c:spPr>
          <c:invertIfNegative val="0"/>
          <c:cat>
            <c:strRef>
              <c:f>newchart6!$B$2:$B$6</c:f>
              <c:strCache>
                <c:ptCount val="5"/>
                <c:pt idx="0">
                  <c:v>Eveline95</c:v>
                </c:pt>
                <c:pt idx="1">
                  <c:v>Clint27</c:v>
                </c:pt>
                <c:pt idx="2">
                  <c:v>Cesar93</c:v>
                </c:pt>
                <c:pt idx="3">
                  <c:v>Delfina_VonRueden68</c:v>
                </c:pt>
                <c:pt idx="4">
                  <c:v>Aurelie71</c:v>
                </c:pt>
              </c:strCache>
            </c:strRef>
          </c:cat>
          <c:val>
            <c:numRef>
              <c:f>newchart6!$C$2:$C$6</c:f>
              <c:numCache>
                <c:formatCode>General</c:formatCode>
                <c:ptCount val="5"/>
                <c:pt idx="0">
                  <c:v>420</c:v>
                </c:pt>
                <c:pt idx="1">
                  <c:v>361</c:v>
                </c:pt>
                <c:pt idx="2">
                  <c:v>338</c:v>
                </c:pt>
                <c:pt idx="3">
                  <c:v>285</c:v>
                </c:pt>
                <c:pt idx="4">
                  <c:v>280</c:v>
                </c:pt>
              </c:numCache>
            </c:numRef>
          </c:val>
        </c:ser>
        <c:ser>
          <c:idx val="1"/>
          <c:order val="1"/>
          <c:tx>
            <c:strRef>
              <c:f>newchart6!$D$1</c:f>
              <c:strCache>
                <c:ptCount val="1"/>
                <c:pt idx="0">
                  <c:v>total_comments_received</c:v>
                </c:pt>
              </c:strCache>
            </c:strRef>
          </c:tx>
          <c:spPr>
            <a:solidFill>
              <a:schemeClr val="accent2"/>
            </a:solidFill>
            <a:ln>
              <a:noFill/>
            </a:ln>
            <a:effectLst/>
          </c:spPr>
          <c:invertIfNegative val="0"/>
          <c:cat>
            <c:strRef>
              <c:f>newchart6!$B$2:$B$6</c:f>
              <c:strCache>
                <c:ptCount val="5"/>
                <c:pt idx="0">
                  <c:v>Eveline95</c:v>
                </c:pt>
                <c:pt idx="1">
                  <c:v>Clint27</c:v>
                </c:pt>
                <c:pt idx="2">
                  <c:v>Cesar93</c:v>
                </c:pt>
                <c:pt idx="3">
                  <c:v>Delfina_VonRueden68</c:v>
                </c:pt>
                <c:pt idx="4">
                  <c:v>Aurelie71</c:v>
                </c:pt>
              </c:strCache>
            </c:strRef>
          </c:cat>
          <c:val>
            <c:numRef>
              <c:f>newchart6!$D$2:$D$6</c:f>
              <c:numCache>
                <c:formatCode>General</c:formatCode>
                <c:ptCount val="5"/>
                <c:pt idx="0">
                  <c:v>329</c:v>
                </c:pt>
                <c:pt idx="1">
                  <c:v>299</c:v>
                </c:pt>
                <c:pt idx="2">
                  <c:v>308</c:v>
                </c:pt>
                <c:pt idx="3">
                  <c:v>273</c:v>
                </c:pt>
                <c:pt idx="4">
                  <c:v>242</c:v>
                </c:pt>
              </c:numCache>
            </c:numRef>
          </c:val>
        </c:ser>
        <c:dLbls>
          <c:showLegendKey val="0"/>
          <c:showVal val="0"/>
          <c:showCatName val="0"/>
          <c:showSerName val="0"/>
          <c:showPercent val="0"/>
          <c:showBubbleSize val="0"/>
        </c:dLbls>
        <c:gapWidth val="219"/>
        <c:overlap val="-27"/>
        <c:axId val="229057040"/>
        <c:axId val="229059000"/>
      </c:barChart>
      <c:catAx>
        <c:axId val="229057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9000"/>
        <c:crosses val="autoZero"/>
        <c:auto val="1"/>
        <c:lblAlgn val="ctr"/>
        <c:lblOffset val="100"/>
        <c:noMultiLvlLbl val="0"/>
      </c:catAx>
      <c:valAx>
        <c:axId val="229059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7040"/>
        <c:crosses val="autoZero"/>
        <c:crossBetween val="between"/>
      </c:valAx>
      <c:spPr>
        <a:noFill/>
        <a:ln>
          <a:noFill/>
        </a:ln>
        <a:effectLst/>
      </c:spPr>
    </c:plotArea>
    <c:legend>
      <c:legendPos val="b"/>
      <c:layout>
        <c:manualLayout>
          <c:xMode val="edge"/>
          <c:yMode val="edge"/>
          <c:x val="0.14589447207280898"/>
          <c:y val="0.89123736060902825"/>
          <c:w val="0.76400453218779885"/>
          <c:h val="8.828974783684556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[q8.csv]q8!PivotTable1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Comparison of Tag Usage Across Users</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'q8'!$G$3</c:f>
              <c:strCache>
                <c:ptCount val="1"/>
                <c:pt idx="0">
                  <c:v>Total</c:v>
                </c:pt>
              </c:strCache>
            </c:strRef>
          </c:tx>
          <c:spPr>
            <a:solidFill>
              <a:schemeClr val="accent1"/>
            </a:solidFill>
            <a:ln>
              <a:noFill/>
            </a:ln>
            <a:effectLst/>
          </c:spPr>
          <c:invertIfNegative val="0"/>
          <c:cat>
            <c:strRef>
              <c:f>'q8'!$F$4:$F$25</c:f>
              <c:strCache>
                <c:ptCount val="21"/>
                <c:pt idx="0">
                  <c:v>beach</c:v>
                </c:pt>
                <c:pt idx="1">
                  <c:v>beauty</c:v>
                </c:pt>
                <c:pt idx="2">
                  <c:v>concert</c:v>
                </c:pt>
                <c:pt idx="3">
                  <c:v>delicious</c:v>
                </c:pt>
                <c:pt idx="4">
                  <c:v>dreamy</c:v>
                </c:pt>
                <c:pt idx="5">
                  <c:v>drunk</c:v>
                </c:pt>
                <c:pt idx="6">
                  <c:v>fashion</c:v>
                </c:pt>
                <c:pt idx="7">
                  <c:v>food</c:v>
                </c:pt>
                <c:pt idx="8">
                  <c:v>foodie</c:v>
                </c:pt>
                <c:pt idx="9">
                  <c:v>fun</c:v>
                </c:pt>
                <c:pt idx="10">
                  <c:v>hair</c:v>
                </c:pt>
                <c:pt idx="11">
                  <c:v>happy</c:v>
                </c:pt>
                <c:pt idx="12">
                  <c:v>landscape</c:v>
                </c:pt>
                <c:pt idx="13">
                  <c:v>lol</c:v>
                </c:pt>
                <c:pt idx="14">
                  <c:v>party</c:v>
                </c:pt>
                <c:pt idx="15">
                  <c:v>photography</c:v>
                </c:pt>
                <c:pt idx="16">
                  <c:v>smile</c:v>
                </c:pt>
                <c:pt idx="17">
                  <c:v>stunning</c:v>
                </c:pt>
                <c:pt idx="18">
                  <c:v>style</c:v>
                </c:pt>
                <c:pt idx="19">
                  <c:v>sunrise</c:v>
                </c:pt>
                <c:pt idx="20">
                  <c:v>sunset</c:v>
                </c:pt>
              </c:strCache>
            </c:strRef>
          </c:cat>
          <c:val>
            <c:numRef>
              <c:f>'q8'!$G$4:$G$25</c:f>
              <c:numCache>
                <c:formatCode>General</c:formatCode>
                <c:ptCount val="21"/>
                <c:pt idx="0">
                  <c:v>1.2727272727272727</c:v>
                </c:pt>
                <c:pt idx="1">
                  <c:v>1.25</c:v>
                </c:pt>
                <c:pt idx="2">
                  <c:v>1.1428571428571428</c:v>
                </c:pt>
                <c:pt idx="3">
                  <c:v>1.1538461538461537</c:v>
                </c:pt>
                <c:pt idx="4">
                  <c:v>1.3333333333333333</c:v>
                </c:pt>
                <c:pt idx="5">
                  <c:v>1.1176470588235294</c:v>
                </c:pt>
                <c:pt idx="6">
                  <c:v>1.2666666666666666</c:v>
                </c:pt>
                <c:pt idx="7">
                  <c:v>1.2</c:v>
                </c:pt>
                <c:pt idx="8">
                  <c:v>1.1000000000000001</c:v>
                </c:pt>
                <c:pt idx="9">
                  <c:v>1.4615384615384615</c:v>
                </c:pt>
                <c:pt idx="10">
                  <c:v>1.4375</c:v>
                </c:pt>
                <c:pt idx="11">
                  <c:v>1.1000000000000001</c:v>
                </c:pt>
                <c:pt idx="12">
                  <c:v>1.0625</c:v>
                </c:pt>
                <c:pt idx="13">
                  <c:v>1.2</c:v>
                </c:pt>
                <c:pt idx="14">
                  <c:v>1.3448275862068966</c:v>
                </c:pt>
                <c:pt idx="15">
                  <c:v>1.1428571428571428</c:v>
                </c:pt>
                <c:pt idx="16">
                  <c:v>1.5945945945945945</c:v>
                </c:pt>
                <c:pt idx="17">
                  <c:v>1.2307692307692308</c:v>
                </c:pt>
                <c:pt idx="18">
                  <c:v>1.1333333333333333</c:v>
                </c:pt>
                <c:pt idx="19">
                  <c:v>1.3076923076923077</c:v>
                </c:pt>
                <c:pt idx="20">
                  <c:v>1.2666666666666666</c:v>
                </c:pt>
              </c:numCache>
            </c:numRef>
          </c:val>
        </c:ser>
        <c:dLbls>
          <c:showLegendKey val="0"/>
          <c:showVal val="0"/>
          <c:showCatName val="0"/>
          <c:showSerName val="0"/>
          <c:showPercent val="0"/>
          <c:showBubbleSize val="0"/>
        </c:dLbls>
        <c:gapWidth val="219"/>
        <c:overlap val="-27"/>
        <c:axId val="229053512"/>
        <c:axId val="229055472"/>
      </c:barChart>
      <c:catAx>
        <c:axId val="229053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5472"/>
        <c:crosses val="autoZero"/>
        <c:auto val="1"/>
        <c:lblAlgn val="ctr"/>
        <c:lblOffset val="100"/>
        <c:noMultiLvlLbl val="0"/>
      </c:catAx>
      <c:valAx>
        <c:axId val="229055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90535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[hi1.csv]hi1!PivotTable4</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a:t>Active vs Inactive Users</a:t>
            </a: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noFill/>
          </a:ln>
          <a:effectLst>
            <a:outerShdw blurRad="254000" sx="102000" sy="102000" algn="ctr" rotWithShape="0">
              <a:prstClr val="black">
                <a:alpha val="20000"/>
              </a:prstClr>
            </a:outerShdw>
          </a:effectLst>
        </c:spPr>
      </c:pivotFmt>
      <c:pivotFmt>
        <c:idx val="3"/>
        <c:spPr>
          <a:solidFill>
            <a:schemeClr val="accent1"/>
          </a:solidFill>
          <a:ln w="19050">
            <a:noFill/>
          </a:ln>
          <a:effectLst>
            <a:outerShdw blurRad="254000" sx="102000" sy="102000" algn="ctr" rotWithShape="0">
              <a:prstClr val="black">
                <a:alpha val="20000"/>
              </a:prstClr>
            </a:outerShdw>
          </a:effectLst>
        </c:spPr>
      </c:pivotFmt>
      <c:pivotFmt>
        <c:idx val="4"/>
        <c:spPr>
          <a:solidFill>
            <a:schemeClr val="accent1"/>
          </a:solidFill>
          <a:ln w="19050">
            <a:noFill/>
          </a:ln>
          <a:effectLst>
            <a:outerShdw blurRad="254000" sx="102000" sy="102000" algn="ctr" rotWithShape="0">
              <a:prstClr val="black">
                <a:alpha val="20000"/>
              </a:prstClr>
            </a:outerShdw>
          </a:effectLst>
        </c:spPr>
      </c:pivotFmt>
      <c:pivotFmt>
        <c:idx val="5"/>
        <c:spPr>
          <a:solidFill>
            <a:schemeClr val="accent1"/>
          </a:solidFill>
          <a:ln w="19050">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noFill/>
          </a:ln>
          <a:effectLst>
            <a:outerShdw blurRad="254000" sx="102000" sy="102000" algn="ctr" rotWithShape="0">
              <a:prstClr val="black">
                <a:alpha val="20000"/>
              </a:prstClr>
            </a:outerShdw>
          </a:effectLst>
        </c:spPr>
      </c:pivotFmt>
      <c:pivotFmt>
        <c:idx val="7"/>
        <c:spPr>
          <a:solidFill>
            <a:schemeClr val="accent1"/>
          </a:solidFill>
          <a:ln w="19050">
            <a:noFill/>
          </a:ln>
          <a:effectLst>
            <a:outerShdw blurRad="254000" sx="102000" sy="102000" algn="ctr" rotWithShape="0">
              <a:prstClr val="black">
                <a:alpha val="20000"/>
              </a:prstClr>
            </a:outerShdw>
          </a:effectLst>
        </c:spPr>
      </c:pivotFmt>
      <c:pivotFmt>
        <c:idx val="8"/>
        <c:spPr>
          <a:solidFill>
            <a:schemeClr val="accent1"/>
          </a:solidFill>
          <a:ln w="19050">
            <a:noFill/>
          </a:ln>
          <a:effectLst>
            <a:outerShdw blurRad="254000" sx="102000" sy="102000" algn="ctr" rotWithShape="0">
              <a:prstClr val="black">
                <a:alpha val="20000"/>
              </a:prstClr>
            </a:outerShdw>
          </a:effectLst>
        </c:spPr>
      </c:pivotFmt>
    </c:pivotFmts>
    <c:plotArea>
      <c:layout/>
      <c:pieChart>
        <c:varyColors val="1"/>
        <c:ser>
          <c:idx val="0"/>
          <c:order val="0"/>
          <c:tx>
            <c:strRef>
              <c:f>'hi1'!$B$8</c:f>
              <c:strCache>
                <c:ptCount val="1"/>
                <c:pt idx="0">
                  <c:v>Total</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'hi1'!$A$9:$A$12</c:f>
              <c:strCache>
                <c:ptCount val="3"/>
                <c:pt idx="0">
                  <c:v>Active</c:v>
                </c:pt>
                <c:pt idx="1">
                  <c:v>Inactive</c:v>
                </c:pt>
                <c:pt idx="2">
                  <c:v>(blank)</c:v>
                </c:pt>
              </c:strCache>
            </c:strRef>
          </c:cat>
          <c:val>
            <c:numRef>
              <c:f>'hi1'!$B$9:$B$12</c:f>
              <c:numCache>
                <c:formatCode>General</c:formatCode>
                <c:ptCount val="3"/>
                <c:pt idx="0">
                  <c:v>87</c:v>
                </c:pt>
                <c:pt idx="1">
                  <c:v>13</c:v>
                </c:pt>
              </c:numCache>
            </c:numRef>
          </c:val>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egendEntry>
        <c:idx val="2"/>
        <c:delete val="1"/>
      </c:legendEntry>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[q9.csv]q9!PivotTable2</c:name>
    <c:fmtId val="17"/>
  </c:pivotSource>
  <c:chart>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
        <c:idx val="7"/>
        <c:spPr>
          <a:solidFill>
            <a:schemeClr val="accent1"/>
          </a:solidFill>
          <a:ln>
            <a:noFill/>
          </a:ln>
          <a:effectLst/>
        </c:spPr>
        <c:marker>
          <c:symbol val="none"/>
        </c:marker>
      </c:pivotFmt>
      <c:pivotFmt>
        <c:idx val="8"/>
        <c:spPr>
          <a:solidFill>
            <a:schemeClr val="accent1"/>
          </a:solidFill>
          <a:ln>
            <a:noFill/>
          </a:ln>
          <a:effectLst/>
        </c:spPr>
        <c:marker>
          <c:symbol val="none"/>
        </c:marker>
      </c:pivotFmt>
    </c:pivotFmts>
    <c:plotArea>
      <c:layout/>
      <c:barChart>
        <c:barDir val="col"/>
        <c:grouping val="clustered"/>
        <c:varyColors val="0"/>
        <c:ser>
          <c:idx val="0"/>
          <c:order val="0"/>
          <c:tx>
            <c:strRef>
              <c:f>'q9'!$B$10</c:f>
              <c:strCache>
                <c:ptCount val="1"/>
                <c:pt idx="0">
                  <c:v> total_likes</c:v>
                </c:pt>
              </c:strCache>
            </c:strRef>
          </c:tx>
          <c:spPr>
            <a:solidFill>
              <a:schemeClr val="accent1"/>
            </a:solidFill>
            <a:ln>
              <a:noFill/>
            </a:ln>
            <a:effectLst/>
          </c:spPr>
          <c:invertIfNegative val="0"/>
          <c:cat>
            <c:strRef>
              <c:f>'q9'!$A$11:$A$12</c:f>
              <c:strCache>
                <c:ptCount val="1"/>
                <c:pt idx="0">
                  <c:v>18</c:v>
                </c:pt>
              </c:strCache>
            </c:strRef>
          </c:cat>
          <c:val>
            <c:numRef>
              <c:f>'q9'!$B$11:$B$12</c:f>
              <c:numCache>
                <c:formatCode>General</c:formatCode>
                <c:ptCount val="1"/>
                <c:pt idx="0">
                  <c:v>8782</c:v>
                </c:pt>
              </c:numCache>
            </c:numRef>
          </c:val>
        </c:ser>
        <c:ser>
          <c:idx val="1"/>
          <c:order val="1"/>
          <c:tx>
            <c:strRef>
              <c:f>'q9'!$C$10</c:f>
              <c:strCache>
                <c:ptCount val="1"/>
                <c:pt idx="0">
                  <c:v> total_comments</c:v>
                </c:pt>
              </c:strCache>
            </c:strRef>
          </c:tx>
          <c:spPr>
            <a:solidFill>
              <a:schemeClr val="accent2"/>
            </a:solidFill>
            <a:ln>
              <a:noFill/>
            </a:ln>
            <a:effectLst/>
          </c:spPr>
          <c:invertIfNegative val="0"/>
          <c:cat>
            <c:strRef>
              <c:f>'q9'!$A$11:$A$12</c:f>
              <c:strCache>
                <c:ptCount val="1"/>
                <c:pt idx="0">
                  <c:v>18</c:v>
                </c:pt>
              </c:strCache>
            </c:strRef>
          </c:cat>
          <c:val>
            <c:numRef>
              <c:f>'q9'!$C$11:$C$12</c:f>
              <c:numCache>
                <c:formatCode>General</c:formatCode>
                <c:ptCount val="1"/>
                <c:pt idx="0">
                  <c:v>7488</c:v>
                </c:pt>
              </c:numCache>
            </c:numRef>
          </c:val>
        </c:ser>
        <c:ser>
          <c:idx val="2"/>
          <c:order val="2"/>
          <c:tx>
            <c:strRef>
              <c:f>'q9'!$D$10</c:f>
              <c:strCache>
                <c:ptCount val="1"/>
                <c:pt idx="0">
                  <c:v> total_posts</c:v>
                </c:pt>
              </c:strCache>
            </c:strRef>
          </c:tx>
          <c:spPr>
            <a:solidFill>
              <a:schemeClr val="accent3"/>
            </a:solidFill>
            <a:ln>
              <a:noFill/>
            </a:ln>
            <a:effectLst/>
          </c:spPr>
          <c:invertIfNegative val="0"/>
          <c:cat>
            <c:strRef>
              <c:f>'q9'!$A$11:$A$12</c:f>
              <c:strCache>
                <c:ptCount val="1"/>
                <c:pt idx="0">
                  <c:v>18</c:v>
                </c:pt>
              </c:strCache>
            </c:strRef>
          </c:cat>
          <c:val>
            <c:numRef>
              <c:f>'q9'!$D$11:$D$12</c:f>
              <c:numCache>
                <c:formatCode>General</c:formatCode>
                <c:ptCount val="1"/>
                <c:pt idx="0">
                  <c:v>257</c:v>
                </c:pt>
              </c:numCache>
            </c:numRef>
          </c:val>
        </c:ser>
        <c:dLbls>
          <c:showLegendKey val="0"/>
          <c:showVal val="0"/>
          <c:showCatName val="0"/>
          <c:showSerName val="0"/>
          <c:showPercent val="0"/>
          <c:showBubbleSize val="0"/>
        </c:dLbls>
        <c:gapWidth val="219"/>
        <c:overlap val="-27"/>
        <c:axId val="230918744"/>
        <c:axId val="230920312"/>
      </c:barChart>
      <c:catAx>
        <c:axId val="230918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0920312"/>
        <c:crosses val="autoZero"/>
        <c:auto val="1"/>
        <c:lblAlgn val="ctr"/>
        <c:lblOffset val="100"/>
        <c:noMultiLvlLbl val="0"/>
      </c:catAx>
      <c:valAx>
        <c:axId val="230920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091874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5051CE-D8D6-4E85-B53C-59862FFC9E42}"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9B8076-940D-4FBD-B53D-B9C6781239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762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5051CE-D8D6-4E85-B53C-59862FFC9E42}"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318198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5051CE-D8D6-4E85-B53C-59862FFC9E42}"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9B8076-940D-4FBD-B53D-B9C6781239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639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5051CE-D8D6-4E85-B53C-59862FFC9E42}"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987787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5051CE-D8D6-4E85-B53C-59862FFC9E42}" type="datetimeFigureOut">
              <a:rPr lang="en-IN" smtClean="0"/>
              <a:t>30-01-2026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2912178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5051CE-D8D6-4E85-B53C-59862FFC9E42}" type="datetimeFigureOut">
              <a:rPr lang="en-IN" smtClean="0"/>
              <a:t>30-01-2026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170794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5051CE-D8D6-4E85-B53C-59862FFC9E42}" type="datetimeFigureOut">
              <a:rPr lang="en-IN" smtClean="0"/>
              <a:t>30-01-2026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321574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5051CE-D8D6-4E85-B53C-59862FFC9E42}" type="datetimeFigureOut">
              <a:rPr lang="en-IN" smtClean="0"/>
              <a:t>30-01-2026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9B8076-940D-4FBD-B53D-B9C67812395E}" type="slidenum">
              <a:rPr lang="en-IN" smtClean="0"/>
              <a:t>‹#›</a:t>
            </a:fld>
            <a:endParaRPr lang="en-IN"/>
          </a:p>
        </p:txBody>
      </p:sp>
    </p:spTree>
    <p:extLst>
      <p:ext uri="{BB962C8B-B14F-4D97-AF65-F5344CB8AC3E}">
        <p14:creationId xmlns:p14="http://schemas.microsoft.com/office/powerpoint/2010/main" val="196438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5051CE-D8D6-4E85-B53C-59862FFC9E42}"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2542085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5051CE-D8D6-4E85-B53C-59862FFC9E42}"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3054075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5051CE-D8D6-4E85-B53C-59862FFC9E42}"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9B8076-940D-4FBD-B53D-B9C67812395E}" type="slidenum">
              <a:rPr lang="en-IN" smtClean="0"/>
              <a:t>‹#›</a:t>
            </a:fld>
            <a:endParaRPr lang="en-IN"/>
          </a:p>
        </p:txBody>
      </p:sp>
    </p:spTree>
    <p:extLst>
      <p:ext uri="{BB962C8B-B14F-4D97-AF65-F5344CB8AC3E}">
        <p14:creationId xmlns:p14="http://schemas.microsoft.com/office/powerpoint/2010/main" val="3799796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5051CE-D8D6-4E85-B53C-59862FFC9E42}" type="datetimeFigureOut">
              <a:rPr lang="en-IN" smtClean="0"/>
              <a:t>30-01-2026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9B8076-940D-4FBD-B53D-B9C67812395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2792411"/>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6856" y="187423"/>
            <a:ext cx="6280597" cy="4165636"/>
          </a:xfrm>
          <a:prstGeom prst="rect">
            <a:avLst/>
          </a:prstGeom>
        </p:spPr>
      </p:pic>
      <p:sp>
        <p:nvSpPr>
          <p:cNvPr id="5" name="TextBox 4"/>
          <p:cNvSpPr txBox="1"/>
          <p:nvPr/>
        </p:nvSpPr>
        <p:spPr>
          <a:xfrm>
            <a:off x="1023788" y="2906509"/>
            <a:ext cx="5789136" cy="1446550"/>
          </a:xfrm>
          <a:prstGeom prst="rect">
            <a:avLst/>
          </a:prstGeom>
          <a:noFill/>
        </p:spPr>
        <p:txBody>
          <a:bodyPr wrap="square" rtlCol="0">
            <a:spAutoFit/>
          </a:bodyPr>
          <a:lstStyle/>
          <a:p>
            <a:r>
              <a:rPr lang="en-US" sz="4400" b="1" dirty="0" smtClean="0">
                <a:solidFill>
                  <a:schemeClr val="accent5">
                    <a:lumMod val="50000"/>
                  </a:schemeClr>
                </a:solidFill>
              </a:rPr>
              <a:t>Social Media Analysis</a:t>
            </a:r>
            <a:endParaRPr lang="en-US" sz="4400" b="1" dirty="0">
              <a:solidFill>
                <a:schemeClr val="accent5">
                  <a:lumMod val="50000"/>
                </a:schemeClr>
              </a:solidFill>
            </a:endParaRPr>
          </a:p>
          <a:p>
            <a:r>
              <a:rPr lang="en-US" sz="4400" b="1" dirty="0" smtClean="0">
                <a:solidFill>
                  <a:schemeClr val="accent5">
                    <a:lumMod val="50000"/>
                  </a:schemeClr>
                </a:solidFill>
              </a:rPr>
              <a:t>- </a:t>
            </a:r>
            <a:r>
              <a:rPr lang="en-US" sz="4400" b="1" dirty="0" err="1" smtClean="0">
                <a:solidFill>
                  <a:schemeClr val="accent5">
                    <a:lumMod val="50000"/>
                  </a:schemeClr>
                </a:solidFill>
              </a:rPr>
              <a:t>Abhinandan</a:t>
            </a:r>
            <a:r>
              <a:rPr lang="en-US" sz="4400" b="1" dirty="0" smtClean="0">
                <a:solidFill>
                  <a:schemeClr val="accent5">
                    <a:lumMod val="50000"/>
                  </a:schemeClr>
                </a:solidFill>
              </a:rPr>
              <a:t>  </a:t>
            </a:r>
            <a:r>
              <a:rPr lang="en-US" sz="4400" b="1" dirty="0" err="1" smtClean="0">
                <a:solidFill>
                  <a:schemeClr val="accent5">
                    <a:lumMod val="50000"/>
                  </a:schemeClr>
                </a:solidFill>
              </a:rPr>
              <a:t>Tiwary</a:t>
            </a:r>
            <a:endParaRPr lang="en-IN" sz="4400" b="1" dirty="0">
              <a:solidFill>
                <a:schemeClr val="accent5">
                  <a:lumMod val="50000"/>
                </a:schemeClr>
              </a:solidFill>
            </a:endParaRPr>
          </a:p>
        </p:txBody>
      </p:sp>
    </p:spTree>
    <p:extLst>
      <p:ext uri="{BB962C8B-B14F-4D97-AF65-F5344CB8AC3E}">
        <p14:creationId xmlns:p14="http://schemas.microsoft.com/office/powerpoint/2010/main" val="7518125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221" y="296546"/>
            <a:ext cx="3515932" cy="1478570"/>
          </a:xfrm>
        </p:spPr>
        <p:txBody>
          <a:bodyPr>
            <a:normAutofit/>
          </a:bodyPr>
          <a:lstStyle/>
          <a:p>
            <a:r>
              <a:rPr lang="en-US" dirty="0" smtClean="0"/>
              <a:t>AGENDA</a:t>
            </a:r>
            <a:endParaRPr lang="en-IN" dirty="0"/>
          </a:p>
        </p:txBody>
      </p:sp>
      <p:sp>
        <p:nvSpPr>
          <p:cNvPr id="3" name="TextBox 2"/>
          <p:cNvSpPr txBox="1"/>
          <p:nvPr/>
        </p:nvSpPr>
        <p:spPr>
          <a:xfrm>
            <a:off x="1146221" y="2034861"/>
            <a:ext cx="6323527" cy="3046988"/>
          </a:xfrm>
          <a:prstGeom prst="rect">
            <a:avLst/>
          </a:prstGeom>
          <a:noFill/>
        </p:spPr>
        <p:txBody>
          <a:bodyPr wrap="square" rtlCol="0">
            <a:spAutoFit/>
          </a:bodyPr>
          <a:lstStyle/>
          <a:p>
            <a:pPr marL="571500" indent="-571500">
              <a:buClr>
                <a:schemeClr val="bg1"/>
              </a:buClr>
              <a:buFont typeface="Wingdings" panose="05000000000000000000" pitchFamily="2" charset="2"/>
              <a:buChar char="Ø"/>
            </a:pPr>
            <a:r>
              <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rPr>
              <a:t>Problem Statement</a:t>
            </a:r>
          </a:p>
          <a:p>
            <a:pPr marL="571500" indent="-571500">
              <a:buClr>
                <a:schemeClr val="bg1"/>
              </a:buClr>
              <a:buFont typeface="Wingdings" panose="05000000000000000000" pitchFamily="2" charset="2"/>
              <a:buChar char="Ø"/>
            </a:pPr>
            <a:endPar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endParaRPr>
          </a:p>
          <a:p>
            <a:pPr marL="571500" indent="-571500">
              <a:buClr>
                <a:schemeClr val="bg1"/>
              </a:buClr>
              <a:buFont typeface="Wingdings" panose="05000000000000000000" pitchFamily="2" charset="2"/>
              <a:buChar char="Ø"/>
            </a:pPr>
            <a:r>
              <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rPr>
              <a:t>Data Description</a:t>
            </a:r>
          </a:p>
          <a:p>
            <a:pPr marL="571500" indent="-571500">
              <a:buClr>
                <a:schemeClr val="bg1"/>
              </a:buClr>
              <a:buFont typeface="Wingdings" panose="05000000000000000000" pitchFamily="2" charset="2"/>
              <a:buChar char="Ø"/>
            </a:pPr>
            <a:endPar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endParaRPr>
          </a:p>
          <a:p>
            <a:pPr marL="571500" indent="-571500">
              <a:buClr>
                <a:schemeClr val="bg1"/>
              </a:buClr>
              <a:buFont typeface="Wingdings" panose="05000000000000000000" pitchFamily="2" charset="2"/>
              <a:buChar char="Ø"/>
            </a:pPr>
            <a:r>
              <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rPr>
              <a:t>Objective Key Metrics and Visualizations</a:t>
            </a:r>
          </a:p>
          <a:p>
            <a:pPr marL="571500" indent="-571500">
              <a:buClr>
                <a:schemeClr val="bg1"/>
              </a:buClr>
              <a:buFont typeface="Wingdings" panose="05000000000000000000" pitchFamily="2" charset="2"/>
              <a:buChar char="Ø"/>
            </a:pPr>
            <a:endPar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endParaRPr>
          </a:p>
          <a:p>
            <a:pPr marL="571500" indent="-571500">
              <a:buClr>
                <a:schemeClr val="bg1"/>
              </a:buClr>
              <a:buFont typeface="Wingdings" panose="05000000000000000000" pitchFamily="2" charset="2"/>
              <a:buChar char="Ø"/>
            </a:pPr>
            <a:r>
              <a:rPr lang="en-US" sz="2400" b="1" dirty="0" smtClean="0">
                <a:solidFill>
                  <a:schemeClr val="tx2"/>
                </a:solidFill>
                <a:effectLst>
                  <a:outerShdw blurRad="38100" dist="38100" dir="2700000" algn="tl">
                    <a:srgbClr val="000000">
                      <a:alpha val="43137"/>
                    </a:srgbClr>
                  </a:outerShdw>
                </a:effectLst>
                <a:cs typeface="Helvetica" panose="020B0604020202020204" pitchFamily="34" charset="0"/>
              </a:rPr>
              <a:t>Insights and Recommendations</a:t>
            </a:r>
          </a:p>
          <a:p>
            <a:pPr marL="285750" indent="-285750">
              <a:buFont typeface="Wingdings" panose="05000000000000000000" pitchFamily="2" charset="2"/>
              <a:buChar char="Ø"/>
            </a:pPr>
            <a:endParaRPr lang="en-IN" sz="2400" dirty="0"/>
          </a:p>
        </p:txBody>
      </p:sp>
    </p:spTree>
    <p:extLst>
      <p:ext uri="{BB962C8B-B14F-4D97-AF65-F5344CB8AC3E}">
        <p14:creationId xmlns:p14="http://schemas.microsoft.com/office/powerpoint/2010/main" val="3410274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4652" y="348062"/>
            <a:ext cx="9905998" cy="1478570"/>
          </a:xfrm>
        </p:spPr>
        <p:txBody>
          <a:bodyPr/>
          <a:lstStyle/>
          <a:p>
            <a:r>
              <a:rPr lang="en-US" dirty="0" smtClean="0"/>
              <a:t>Problem Statement</a:t>
            </a:r>
            <a:endParaRPr lang="en-IN" dirty="0"/>
          </a:p>
        </p:txBody>
      </p:sp>
      <p:sp>
        <p:nvSpPr>
          <p:cNvPr id="5" name="Rectangle 4"/>
          <p:cNvSpPr/>
          <p:nvPr/>
        </p:nvSpPr>
        <p:spPr>
          <a:xfrm>
            <a:off x="1064652" y="2052729"/>
            <a:ext cx="9905998" cy="2308324"/>
          </a:xfrm>
          <a:prstGeom prst="rect">
            <a:avLst/>
          </a:prstGeom>
        </p:spPr>
        <p:txBody>
          <a:bodyPr wrap="square">
            <a:spAutoFit/>
          </a:bodyPr>
          <a:lstStyle/>
          <a:p>
            <a:r>
              <a:rPr lang="en-US" sz="2400" dirty="0" err="1" smtClean="0"/>
              <a:t>Instagram</a:t>
            </a:r>
            <a:r>
              <a:rPr lang="en-US" sz="2400" dirty="0" smtClean="0"/>
              <a:t> generates large volumes of user interaction data such as posts, likes, comments, follows, and tags. However, understanding user behavior, engagement patterns, and identifying valuable users requires structured analysis. The challenge is to analyze this data to derive actionable insights that can support marketing strategies, user retention, influencer identification, and content optimization.</a:t>
            </a:r>
            <a:endParaRPr lang="en-IN" sz="2400" dirty="0"/>
          </a:p>
        </p:txBody>
      </p:sp>
    </p:spTree>
    <p:extLst>
      <p:ext uri="{BB962C8B-B14F-4D97-AF65-F5344CB8AC3E}">
        <p14:creationId xmlns:p14="http://schemas.microsoft.com/office/powerpoint/2010/main" val="39234925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51774" y="1962578"/>
            <a:ext cx="8233894" cy="3046988"/>
          </a:xfrm>
          <a:prstGeom prst="rect">
            <a:avLst/>
          </a:prstGeom>
        </p:spPr>
        <p:txBody>
          <a:bodyPr wrap="square">
            <a:spAutoFit/>
          </a:bodyPr>
          <a:lstStyle/>
          <a:p>
            <a:r>
              <a:rPr lang="en-US" sz="2400" dirty="0" smtClean="0"/>
              <a:t>The dataset consists of multiple relational tables capturing different aspects of user activity:</a:t>
            </a:r>
          </a:p>
          <a:p>
            <a:r>
              <a:rPr lang="en-US" sz="2400" b="1" dirty="0" smtClean="0"/>
              <a:t>Users</a:t>
            </a:r>
            <a:r>
              <a:rPr lang="en-US" sz="2400" dirty="0" smtClean="0"/>
              <a:t>: Stores user profile information and account creation time</a:t>
            </a:r>
          </a:p>
          <a:p>
            <a:r>
              <a:rPr lang="en-US" sz="2400" b="1" dirty="0" smtClean="0"/>
              <a:t>Photos</a:t>
            </a:r>
            <a:r>
              <a:rPr lang="en-US" sz="2400" dirty="0" smtClean="0"/>
              <a:t>: Contains user-generated posts with timestamps</a:t>
            </a:r>
          </a:p>
          <a:p>
            <a:r>
              <a:rPr lang="en-US" sz="2400" b="1" dirty="0" smtClean="0"/>
              <a:t>Likes</a:t>
            </a:r>
            <a:r>
              <a:rPr lang="en-US" sz="2400" dirty="0" smtClean="0"/>
              <a:t>: Records user likes on photos</a:t>
            </a:r>
          </a:p>
          <a:p>
            <a:r>
              <a:rPr lang="en-US" sz="2400" b="1" dirty="0" smtClean="0"/>
              <a:t>Comments</a:t>
            </a:r>
            <a:r>
              <a:rPr lang="en-US" sz="2400" dirty="0" smtClean="0"/>
              <a:t>: Stores user comments on posts</a:t>
            </a:r>
          </a:p>
          <a:p>
            <a:r>
              <a:rPr lang="en-US" sz="2400" b="1" dirty="0" smtClean="0"/>
              <a:t>Follows</a:t>
            </a:r>
            <a:r>
              <a:rPr lang="en-US" sz="2400" dirty="0" smtClean="0"/>
              <a:t>: Represents follower–following relationships</a:t>
            </a:r>
          </a:p>
          <a:p>
            <a:r>
              <a:rPr lang="en-US" sz="2400" b="1" dirty="0" smtClean="0"/>
              <a:t>Tags &amp; </a:t>
            </a:r>
            <a:r>
              <a:rPr lang="en-US" sz="2400" b="1" dirty="0" err="1" smtClean="0"/>
              <a:t>Photo_Tags</a:t>
            </a:r>
            <a:r>
              <a:rPr lang="en-US" sz="2400" dirty="0" smtClean="0"/>
              <a:t>: Capture hashtag usage on posts</a:t>
            </a:r>
            <a:endParaRPr lang="en-US" sz="2400" dirty="0"/>
          </a:p>
        </p:txBody>
      </p:sp>
      <p:sp>
        <p:nvSpPr>
          <p:cNvPr id="5" name="Title 4"/>
          <p:cNvSpPr>
            <a:spLocks noGrp="1"/>
          </p:cNvSpPr>
          <p:nvPr>
            <p:ph type="title"/>
          </p:nvPr>
        </p:nvSpPr>
        <p:spPr>
          <a:xfrm>
            <a:off x="1051774" y="368098"/>
            <a:ext cx="9905998" cy="1478570"/>
          </a:xfrm>
        </p:spPr>
        <p:txBody>
          <a:bodyPr/>
          <a:lstStyle/>
          <a:p>
            <a:r>
              <a:rPr lang="en-US" dirty="0" smtClean="0"/>
              <a:t>Data description</a:t>
            </a:r>
            <a:endParaRPr lang="en-IN" dirty="0"/>
          </a:p>
        </p:txBody>
      </p:sp>
    </p:spTree>
    <p:extLst>
      <p:ext uri="{BB962C8B-B14F-4D97-AF65-F5344CB8AC3E}">
        <p14:creationId xmlns:p14="http://schemas.microsoft.com/office/powerpoint/2010/main" val="39394236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152" y="901521"/>
            <a:ext cx="2251227" cy="785612"/>
          </a:xfrm>
        </p:spPr>
        <p:txBody>
          <a:bodyPr/>
          <a:lstStyle/>
          <a:p>
            <a:r>
              <a:rPr lang="en-US" dirty="0" smtClean="0"/>
              <a:t>Schema</a:t>
            </a:r>
            <a:endParaRPr lang="en-IN" dirty="0"/>
          </a:p>
        </p:txBody>
      </p:sp>
      <p:pic>
        <p:nvPicPr>
          <p:cNvPr id="4" name="Picture 3"/>
          <p:cNvPicPr>
            <a:picLocks noChangeAspect="1"/>
          </p:cNvPicPr>
          <p:nvPr/>
        </p:nvPicPr>
        <p:blipFill>
          <a:blip r:embed="rId2"/>
          <a:stretch>
            <a:fillRect/>
          </a:stretch>
        </p:blipFill>
        <p:spPr>
          <a:xfrm>
            <a:off x="5952872" y="115909"/>
            <a:ext cx="6020640" cy="3572498"/>
          </a:xfrm>
          <a:prstGeom prst="rect">
            <a:avLst/>
          </a:prstGeom>
        </p:spPr>
      </p:pic>
      <p:pic>
        <p:nvPicPr>
          <p:cNvPr id="5" name="Picture 4"/>
          <p:cNvPicPr>
            <a:picLocks noChangeAspect="1"/>
          </p:cNvPicPr>
          <p:nvPr/>
        </p:nvPicPr>
        <p:blipFill>
          <a:blip r:embed="rId3"/>
          <a:stretch>
            <a:fillRect/>
          </a:stretch>
        </p:blipFill>
        <p:spPr>
          <a:xfrm>
            <a:off x="5952872" y="3688407"/>
            <a:ext cx="6020640" cy="2227737"/>
          </a:xfrm>
          <a:prstGeom prst="rect">
            <a:avLst/>
          </a:prstGeom>
        </p:spPr>
      </p:pic>
      <p:sp>
        <p:nvSpPr>
          <p:cNvPr id="6" name="TextBox 5"/>
          <p:cNvSpPr txBox="1"/>
          <p:nvPr/>
        </p:nvSpPr>
        <p:spPr>
          <a:xfrm>
            <a:off x="1079151" y="1996225"/>
            <a:ext cx="4368611" cy="1200329"/>
          </a:xfrm>
          <a:prstGeom prst="rect">
            <a:avLst/>
          </a:prstGeom>
          <a:noFill/>
        </p:spPr>
        <p:txBody>
          <a:bodyPr wrap="square" rtlCol="0">
            <a:spAutoFit/>
          </a:bodyPr>
          <a:lstStyle/>
          <a:p>
            <a:r>
              <a:rPr lang="en-US" sz="2400" dirty="0" smtClean="0"/>
              <a:t>The image displays a database schema for social media application like </a:t>
            </a:r>
            <a:r>
              <a:rPr lang="en-US" sz="2400" dirty="0" err="1" smtClean="0"/>
              <a:t>instagram</a:t>
            </a:r>
            <a:r>
              <a:rPr lang="en-US" sz="2400" dirty="0" smtClean="0"/>
              <a:t>.</a:t>
            </a:r>
            <a:endParaRPr lang="en-IN" sz="2400" dirty="0"/>
          </a:p>
        </p:txBody>
      </p:sp>
    </p:spTree>
    <p:extLst>
      <p:ext uri="{BB962C8B-B14F-4D97-AF65-F5344CB8AC3E}">
        <p14:creationId xmlns:p14="http://schemas.microsoft.com/office/powerpoint/2010/main" val="17696209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2885" y="312360"/>
            <a:ext cx="10058400" cy="1450757"/>
          </a:xfrm>
        </p:spPr>
        <p:txBody>
          <a:bodyPr/>
          <a:lstStyle/>
          <a:p>
            <a:r>
              <a:rPr lang="en-IN" dirty="0"/>
              <a:t>Objectives, Key Metrics &amp; Approach</a:t>
            </a:r>
          </a:p>
        </p:txBody>
      </p:sp>
      <p:sp>
        <p:nvSpPr>
          <p:cNvPr id="3" name="Rectangle 2"/>
          <p:cNvSpPr/>
          <p:nvPr/>
        </p:nvSpPr>
        <p:spPr>
          <a:xfrm>
            <a:off x="1141413" y="1903905"/>
            <a:ext cx="6873710" cy="3785652"/>
          </a:xfrm>
          <a:prstGeom prst="rect">
            <a:avLst/>
          </a:prstGeom>
        </p:spPr>
        <p:txBody>
          <a:bodyPr wrap="square">
            <a:spAutoFit/>
          </a:bodyPr>
          <a:lstStyle/>
          <a:p>
            <a:pPr marL="342900" indent="-342900">
              <a:buFont typeface="Wingdings" panose="05000000000000000000" pitchFamily="2" charset="2"/>
              <a:buChar char="Ø"/>
            </a:pPr>
            <a:r>
              <a:rPr lang="en-US" sz="2400" dirty="0" smtClean="0"/>
              <a:t>The main objective is to understand how users interact with content and how engagement varies across users and </a:t>
            </a:r>
            <a:r>
              <a:rPr lang="en-US" sz="2400" dirty="0" smtClean="0"/>
              <a:t>time.</a:t>
            </a:r>
          </a:p>
          <a:p>
            <a:pPr marL="342900" indent="-342900">
              <a:buFont typeface="Wingdings" panose="05000000000000000000" pitchFamily="2" charset="2"/>
              <a:buChar char="Ø"/>
            </a:pPr>
            <a:r>
              <a:rPr lang="en-US" sz="2400" dirty="0" smtClean="0"/>
              <a:t>Key </a:t>
            </a:r>
            <a:r>
              <a:rPr lang="en-US" sz="2400" dirty="0" smtClean="0"/>
              <a:t>metrics include posts per user, likes and comments per post, engagement rate, follower count, and posting </a:t>
            </a:r>
            <a:r>
              <a:rPr lang="en-US" sz="2400" dirty="0" smtClean="0"/>
              <a:t>time.</a:t>
            </a:r>
          </a:p>
          <a:p>
            <a:pPr marL="342900" indent="-342900">
              <a:buFont typeface="Wingdings" panose="05000000000000000000" pitchFamily="2" charset="2"/>
              <a:buChar char="Ø"/>
            </a:pPr>
            <a:r>
              <a:rPr lang="en-US" sz="2400" dirty="0" smtClean="0"/>
              <a:t>A </a:t>
            </a:r>
            <a:r>
              <a:rPr lang="en-US" sz="2400" dirty="0" smtClean="0"/>
              <a:t>data-driven exploratory approach was followed, where patterns were first identified through visualizations and then translated into insights and business recommendations.</a:t>
            </a:r>
            <a:endParaRPr lang="en-IN" sz="2400" dirty="0"/>
          </a:p>
        </p:txBody>
      </p:sp>
    </p:spTree>
    <p:extLst>
      <p:ext uri="{BB962C8B-B14F-4D97-AF65-F5344CB8AC3E}">
        <p14:creationId xmlns:p14="http://schemas.microsoft.com/office/powerpoint/2010/main" val="17869336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824" y="372678"/>
            <a:ext cx="9532511" cy="1478570"/>
          </a:xfrm>
        </p:spPr>
        <p:txBody>
          <a:bodyPr/>
          <a:lstStyle/>
          <a:p>
            <a:r>
              <a:rPr lang="en-IN" dirty="0"/>
              <a:t>Overall User Activity Overview</a:t>
            </a:r>
          </a:p>
        </p:txBody>
      </p:sp>
      <p:sp>
        <p:nvSpPr>
          <p:cNvPr id="3" name="Rectangle 2"/>
          <p:cNvSpPr/>
          <p:nvPr/>
        </p:nvSpPr>
        <p:spPr>
          <a:xfrm>
            <a:off x="708338" y="2214026"/>
            <a:ext cx="6684135" cy="3046988"/>
          </a:xfrm>
          <a:prstGeom prst="rect">
            <a:avLst/>
          </a:prstGeom>
        </p:spPr>
        <p:txBody>
          <a:bodyPr wrap="square">
            <a:spAutoFit/>
          </a:bodyPr>
          <a:lstStyle/>
          <a:p>
            <a:pPr marL="342900" indent="-342900">
              <a:buFont typeface="Wingdings" panose="05000000000000000000" pitchFamily="2" charset="2"/>
              <a:buChar char="Ø"/>
            </a:pPr>
            <a:r>
              <a:rPr lang="en-US" sz="2400" dirty="0"/>
              <a:t>Across most users, total likes consistently exceed total comments, indicating that liking content is the primary mode of engagement compared to commenting.</a:t>
            </a:r>
          </a:p>
          <a:p>
            <a:pPr marL="342900" indent="-342900">
              <a:buFont typeface="Wingdings" panose="05000000000000000000" pitchFamily="2" charset="2"/>
              <a:buChar char="Ø"/>
            </a:pPr>
            <a:r>
              <a:rPr lang="en-US" sz="2400" dirty="0"/>
              <a:t>A</a:t>
            </a:r>
            <a:r>
              <a:rPr lang="en-US" sz="2400" dirty="0" smtClean="0"/>
              <a:t> </a:t>
            </a:r>
            <a:r>
              <a:rPr lang="en-US" sz="2400" dirty="0"/>
              <a:t>few users show </a:t>
            </a:r>
            <a:r>
              <a:rPr lang="en-US" sz="2400" b="1" dirty="0"/>
              <a:t>significantly higher spikes in both likes and comments</a:t>
            </a:r>
            <a:r>
              <a:rPr lang="en-US" sz="2400" dirty="0"/>
              <a:t>, highlighting a small group of highly influential or active users driving overall engagement.</a:t>
            </a:r>
          </a:p>
        </p:txBody>
      </p:sp>
      <p:graphicFrame>
        <p:nvGraphicFramePr>
          <p:cNvPr id="5" name="Chart 4"/>
          <p:cNvGraphicFramePr>
            <a:graphicFrameLocks/>
          </p:cNvGraphicFramePr>
          <p:nvPr>
            <p:extLst>
              <p:ext uri="{D42A27DB-BD31-4B8C-83A1-F6EECF244321}">
                <p14:modId xmlns:p14="http://schemas.microsoft.com/office/powerpoint/2010/main" val="222574463"/>
              </p:ext>
            </p:extLst>
          </p:nvPr>
        </p:nvGraphicFramePr>
        <p:xfrm>
          <a:off x="7225047" y="1851248"/>
          <a:ext cx="4966953" cy="37531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43101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Posting Time &amp; Engagement Trend</a:t>
            </a:r>
          </a:p>
        </p:txBody>
      </p:sp>
      <p:sp>
        <p:nvSpPr>
          <p:cNvPr id="3" name="Rectangle 2"/>
          <p:cNvSpPr/>
          <p:nvPr/>
        </p:nvSpPr>
        <p:spPr>
          <a:xfrm>
            <a:off x="1141413" y="2307139"/>
            <a:ext cx="6096000" cy="2677656"/>
          </a:xfrm>
          <a:prstGeom prst="rect">
            <a:avLst/>
          </a:prstGeom>
        </p:spPr>
        <p:txBody>
          <a:bodyPr>
            <a:spAutoFit/>
          </a:bodyPr>
          <a:lstStyle/>
          <a:p>
            <a:pPr marL="342900" indent="-342900">
              <a:buFont typeface="Wingdings" panose="05000000000000000000" pitchFamily="2" charset="2"/>
              <a:buChar char="Ø"/>
            </a:pPr>
            <a:r>
              <a:rPr lang="en-US" sz="2400" dirty="0" smtClean="0"/>
              <a:t>User engagement is highly concentrated during a specific time window.</a:t>
            </a:r>
            <a:br>
              <a:rPr lang="en-US" sz="2400" dirty="0" smtClean="0"/>
            </a:br>
            <a:r>
              <a:rPr lang="en-US" sz="2400" dirty="0" smtClean="0"/>
              <a:t>Most posts, likes, and comments occur around </a:t>
            </a:r>
            <a:r>
              <a:rPr lang="en-US" sz="2400" b="1" dirty="0" smtClean="0"/>
              <a:t>6 PM</a:t>
            </a:r>
            <a:r>
              <a:rPr lang="en-US" sz="2400" dirty="0" smtClean="0"/>
              <a:t>, indicating that users are most active during evening hours. This reflects real-world behavior where users engage with social media after work or study hours.</a:t>
            </a:r>
            <a:endParaRPr lang="en-IN" sz="2400" dirty="0"/>
          </a:p>
        </p:txBody>
      </p:sp>
      <p:graphicFrame>
        <p:nvGraphicFramePr>
          <p:cNvPr id="5" name="Chart 4"/>
          <p:cNvGraphicFramePr>
            <a:graphicFrameLocks/>
          </p:cNvGraphicFramePr>
          <p:nvPr>
            <p:extLst>
              <p:ext uri="{D42A27DB-BD31-4B8C-83A1-F6EECF244321}">
                <p14:modId xmlns:p14="http://schemas.microsoft.com/office/powerpoint/2010/main" val="3843357082"/>
              </p:ext>
            </p:extLst>
          </p:nvPr>
        </p:nvGraphicFramePr>
        <p:xfrm>
          <a:off x="7237413" y="2018762"/>
          <a:ext cx="4699156" cy="33388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2506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High-Value and Loyal Users</a:t>
            </a:r>
          </a:p>
        </p:txBody>
      </p:sp>
      <p:sp>
        <p:nvSpPr>
          <p:cNvPr id="3" name="Rectangle 2"/>
          <p:cNvSpPr/>
          <p:nvPr/>
        </p:nvSpPr>
        <p:spPr>
          <a:xfrm>
            <a:off x="1141413" y="2097088"/>
            <a:ext cx="5516964" cy="2677656"/>
          </a:xfrm>
          <a:prstGeom prst="rect">
            <a:avLst/>
          </a:prstGeom>
        </p:spPr>
        <p:txBody>
          <a:bodyPr wrap="square">
            <a:spAutoFit/>
          </a:bodyPr>
          <a:lstStyle/>
          <a:p>
            <a:pPr marL="342900" indent="-342900">
              <a:buFont typeface="Wingdings" panose="05000000000000000000" pitchFamily="2" charset="2"/>
              <a:buChar char="Ø"/>
            </a:pPr>
            <a:r>
              <a:rPr lang="en-US" sz="2400" dirty="0"/>
              <a:t>A small group of users consistently drives high engagement through both likes and comments.</a:t>
            </a:r>
            <a:br>
              <a:rPr lang="en-US" sz="2400" dirty="0"/>
            </a:br>
            <a:r>
              <a:rPr lang="en-US" sz="2400" dirty="0"/>
              <a:t>These users demonstrate strong loyalty and significantly contribute to overall platform activity and community </a:t>
            </a:r>
            <a:r>
              <a:rPr lang="en-US" sz="2400" dirty="0" smtClean="0"/>
              <a:t>growth.</a:t>
            </a:r>
            <a:endParaRPr lang="en-IN" sz="2400" dirty="0"/>
          </a:p>
        </p:txBody>
      </p:sp>
      <p:graphicFrame>
        <p:nvGraphicFramePr>
          <p:cNvPr id="5" name="Chart 4"/>
          <p:cNvGraphicFramePr>
            <a:graphicFrameLocks/>
          </p:cNvGraphicFramePr>
          <p:nvPr>
            <p:extLst>
              <p:ext uri="{D42A27DB-BD31-4B8C-83A1-F6EECF244321}">
                <p14:modId xmlns:p14="http://schemas.microsoft.com/office/powerpoint/2010/main" val="2337345557"/>
              </p:ext>
            </p:extLst>
          </p:nvPr>
        </p:nvGraphicFramePr>
        <p:xfrm>
          <a:off x="6787166" y="1983346"/>
          <a:ext cx="5007736" cy="37219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52452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User-Generated Content on Targeted Advertising</a:t>
            </a:r>
            <a:endParaRPr lang="en-IN" dirty="0"/>
          </a:p>
        </p:txBody>
      </p:sp>
      <p:sp>
        <p:nvSpPr>
          <p:cNvPr id="4" name="Rectangle 3"/>
          <p:cNvSpPr/>
          <p:nvPr/>
        </p:nvSpPr>
        <p:spPr>
          <a:xfrm>
            <a:off x="1097280" y="2220155"/>
            <a:ext cx="5800300" cy="2677656"/>
          </a:xfrm>
          <a:prstGeom prst="rect">
            <a:avLst/>
          </a:prstGeom>
        </p:spPr>
        <p:txBody>
          <a:bodyPr wrap="square">
            <a:spAutoFit/>
          </a:bodyPr>
          <a:lstStyle/>
          <a:p>
            <a:pPr marL="342900" indent="-342900">
              <a:buFont typeface="Wingdings" panose="05000000000000000000" pitchFamily="2" charset="2"/>
              <a:buChar char="Ø"/>
            </a:pPr>
            <a:r>
              <a:rPr lang="en-IN" sz="2400" dirty="0" smtClean="0"/>
              <a:t>User-generated content like posts, hashtags, and photo tags reveals </a:t>
            </a:r>
            <a:r>
              <a:rPr lang="en-IN" sz="2400" b="1" dirty="0" smtClean="0"/>
              <a:t>user interests, preferences, and trending topics</a:t>
            </a:r>
            <a:r>
              <a:rPr lang="en-IN" sz="2400" dirty="0" smtClean="0"/>
              <a:t>. Leveraging this data helps create </a:t>
            </a:r>
            <a:r>
              <a:rPr lang="en-IN" sz="2400" b="1" dirty="0" smtClean="0"/>
              <a:t>targeted and personalized ad campaigns</a:t>
            </a:r>
            <a:r>
              <a:rPr lang="en-IN" sz="2400" dirty="0" smtClean="0"/>
              <a:t>, increasing engagement and conversion rates.</a:t>
            </a:r>
            <a:endParaRPr lang="en-IN" sz="2400" dirty="0"/>
          </a:p>
        </p:txBody>
      </p:sp>
      <p:graphicFrame>
        <p:nvGraphicFramePr>
          <p:cNvPr id="6" name="Chart 5"/>
          <p:cNvGraphicFramePr/>
          <p:nvPr>
            <p:extLst>
              <p:ext uri="{D42A27DB-BD31-4B8C-83A1-F6EECF244321}">
                <p14:modId xmlns:p14="http://schemas.microsoft.com/office/powerpoint/2010/main" val="2403109977"/>
              </p:ext>
            </p:extLst>
          </p:nvPr>
        </p:nvGraphicFramePr>
        <p:xfrm>
          <a:off x="6925914" y="1929975"/>
          <a:ext cx="5026024" cy="32602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799889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User Segmentation</a:t>
            </a:r>
          </a:p>
        </p:txBody>
      </p:sp>
      <p:sp>
        <p:nvSpPr>
          <p:cNvPr id="3" name="Rectangle 2"/>
          <p:cNvSpPr/>
          <p:nvPr/>
        </p:nvSpPr>
        <p:spPr>
          <a:xfrm>
            <a:off x="1141413" y="2204108"/>
            <a:ext cx="6096000" cy="2308324"/>
          </a:xfrm>
          <a:prstGeom prst="rect">
            <a:avLst/>
          </a:prstGeom>
        </p:spPr>
        <p:txBody>
          <a:bodyPr>
            <a:spAutoFit/>
          </a:bodyPr>
          <a:lstStyle/>
          <a:p>
            <a:pPr marL="342900" indent="-342900">
              <a:buFont typeface="Wingdings" panose="05000000000000000000" pitchFamily="2" charset="2"/>
              <a:buChar char="Ø"/>
            </a:pPr>
            <a:r>
              <a:rPr lang="en-US" sz="2400" dirty="0" smtClean="0"/>
              <a:t>Based on behavior and engagement, users can be segmented into Active Creators, Engaged </a:t>
            </a:r>
            <a:r>
              <a:rPr lang="en-US" sz="2400" dirty="0" smtClean="0"/>
              <a:t>Users</a:t>
            </a:r>
            <a:r>
              <a:rPr lang="en-US" sz="2400" dirty="0" smtClean="0"/>
              <a:t>. </a:t>
            </a:r>
            <a:r>
              <a:rPr lang="en-US" sz="2400" dirty="0" smtClean="0"/>
              <a:t>This </a:t>
            </a:r>
            <a:r>
              <a:rPr lang="en-US" sz="2400" dirty="0" smtClean="0"/>
              <a:t>segmentation helps understand different user personas and enables personalized strategies instead of a one-size-fits-all approach.</a:t>
            </a:r>
            <a:endParaRPr lang="en-IN" sz="2400" dirty="0"/>
          </a:p>
        </p:txBody>
      </p:sp>
      <p:graphicFrame>
        <p:nvGraphicFramePr>
          <p:cNvPr id="4" name="Chart 3"/>
          <p:cNvGraphicFramePr/>
          <p:nvPr>
            <p:extLst>
              <p:ext uri="{D42A27DB-BD31-4B8C-83A1-F6EECF244321}">
                <p14:modId xmlns:p14="http://schemas.microsoft.com/office/powerpoint/2010/main" val="125351885"/>
              </p:ext>
            </p:extLst>
          </p:nvPr>
        </p:nvGraphicFramePr>
        <p:xfrm>
          <a:off x="7237413" y="2302099"/>
          <a:ext cx="4235003"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947580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Inactive User Analysis</a:t>
            </a:r>
          </a:p>
        </p:txBody>
      </p:sp>
      <p:sp>
        <p:nvSpPr>
          <p:cNvPr id="3" name="Rectangle 2"/>
          <p:cNvSpPr/>
          <p:nvPr/>
        </p:nvSpPr>
        <p:spPr>
          <a:xfrm>
            <a:off x="1097280" y="2178349"/>
            <a:ext cx="6096000" cy="2677656"/>
          </a:xfrm>
          <a:prstGeom prst="rect">
            <a:avLst/>
          </a:prstGeom>
        </p:spPr>
        <p:txBody>
          <a:bodyPr>
            <a:spAutoFit/>
          </a:bodyPr>
          <a:lstStyle/>
          <a:p>
            <a:pPr marL="342900" indent="-342900">
              <a:buFont typeface="Wingdings" panose="05000000000000000000" pitchFamily="2" charset="2"/>
              <a:buChar char="Ø"/>
            </a:pPr>
            <a:r>
              <a:rPr lang="en-US" sz="2400" dirty="0" smtClean="0"/>
              <a:t>A segment of users shows little to no posting or engagement </a:t>
            </a:r>
            <a:r>
              <a:rPr lang="en-US" sz="2400" dirty="0" smtClean="0"/>
              <a:t>activity.</a:t>
            </a:r>
          </a:p>
          <a:p>
            <a:pPr marL="342900" indent="-342900">
              <a:buFont typeface="Wingdings" panose="05000000000000000000" pitchFamily="2" charset="2"/>
              <a:buChar char="Ø"/>
            </a:pPr>
            <a:r>
              <a:rPr lang="en-US" sz="2400" dirty="0" smtClean="0"/>
              <a:t>These </a:t>
            </a:r>
            <a:r>
              <a:rPr lang="en-US" sz="2400" dirty="0" smtClean="0"/>
              <a:t>inactive users represent a growth opportunity. With the right re-engagement strategies, such as personalized notifications or incentives, they can be encouraged to return and participate more actively.</a:t>
            </a:r>
            <a:endParaRPr lang="en-IN" sz="2400" dirty="0"/>
          </a:p>
        </p:txBody>
      </p:sp>
    </p:spTree>
    <p:extLst>
      <p:ext uri="{BB962C8B-B14F-4D97-AF65-F5344CB8AC3E}">
        <p14:creationId xmlns:p14="http://schemas.microsoft.com/office/powerpoint/2010/main" val="20800927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1871745" cy="1450757"/>
          </a:xfrm>
        </p:spPr>
        <p:txBody>
          <a:bodyPr/>
          <a:lstStyle/>
          <a:p>
            <a:r>
              <a:rPr lang="en-US" dirty="0"/>
              <a:t>Campaign Timing / Proxy Ad Effectiveness</a:t>
            </a:r>
            <a:endParaRPr lang="en-IN" dirty="0"/>
          </a:p>
        </p:txBody>
      </p:sp>
      <p:sp>
        <p:nvSpPr>
          <p:cNvPr id="3" name="Rectangle 2"/>
          <p:cNvSpPr/>
          <p:nvPr/>
        </p:nvSpPr>
        <p:spPr>
          <a:xfrm>
            <a:off x="1141413" y="2355486"/>
            <a:ext cx="6096000" cy="2677656"/>
          </a:xfrm>
          <a:prstGeom prst="rect">
            <a:avLst/>
          </a:prstGeom>
        </p:spPr>
        <p:txBody>
          <a:bodyPr>
            <a:spAutoFit/>
          </a:bodyPr>
          <a:lstStyle/>
          <a:p>
            <a:pPr marL="342900" indent="-342900">
              <a:buFont typeface="Wingdings" panose="05000000000000000000" pitchFamily="2" charset="2"/>
              <a:buChar char="Ø"/>
            </a:pPr>
            <a:r>
              <a:rPr lang="en-US" sz="2400" dirty="0" smtClean="0"/>
              <a:t>Since direct ad campaign data is unavailable, engagement metrics were used as proxy indicators of campaign effectiveness.</a:t>
            </a:r>
            <a:br>
              <a:rPr lang="en-US" sz="2400" dirty="0" smtClean="0"/>
            </a:br>
            <a:r>
              <a:rPr lang="en-US" sz="2400" dirty="0" smtClean="0"/>
              <a:t>The strong engagement observed during peak posting hours suggests that timing plays a crucial role in content visibility and campaign </a:t>
            </a:r>
            <a:r>
              <a:rPr lang="en-US" sz="2400" dirty="0" smtClean="0"/>
              <a:t>success.</a:t>
            </a:r>
            <a:endParaRPr lang="en-IN" sz="2400" dirty="0"/>
          </a:p>
        </p:txBody>
      </p:sp>
      <p:graphicFrame>
        <p:nvGraphicFramePr>
          <p:cNvPr id="5" name="Chart 4"/>
          <p:cNvGraphicFramePr>
            <a:graphicFrameLocks/>
          </p:cNvGraphicFramePr>
          <p:nvPr>
            <p:extLst>
              <p:ext uri="{D42A27DB-BD31-4B8C-83A1-F6EECF244321}">
                <p14:modId xmlns:p14="http://schemas.microsoft.com/office/powerpoint/2010/main" val="4236563393"/>
              </p:ext>
            </p:extLst>
          </p:nvPr>
        </p:nvGraphicFramePr>
        <p:xfrm>
          <a:off x="7237413" y="2189408"/>
          <a:ext cx="4768983" cy="35674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32348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897" y="373819"/>
            <a:ext cx="9905998" cy="1478570"/>
          </a:xfrm>
        </p:spPr>
        <p:txBody>
          <a:bodyPr/>
          <a:lstStyle/>
          <a:p>
            <a:r>
              <a:rPr lang="en-IN" dirty="0"/>
              <a:t>Conclusion &amp; Future Scope</a:t>
            </a:r>
          </a:p>
        </p:txBody>
      </p:sp>
      <p:sp>
        <p:nvSpPr>
          <p:cNvPr id="3" name="Rectangle 2"/>
          <p:cNvSpPr/>
          <p:nvPr/>
        </p:nvSpPr>
        <p:spPr>
          <a:xfrm>
            <a:off x="1089897" y="2174361"/>
            <a:ext cx="9905998" cy="2308324"/>
          </a:xfrm>
          <a:prstGeom prst="rect">
            <a:avLst/>
          </a:prstGeom>
        </p:spPr>
        <p:txBody>
          <a:bodyPr wrap="square">
            <a:spAutoFit/>
          </a:bodyPr>
          <a:lstStyle/>
          <a:p>
            <a:r>
              <a:rPr lang="en-US" sz="2400" dirty="0" smtClean="0"/>
              <a:t>This analysis demonstrates how user activity and engagement data can be transformed into actionable business insights</a:t>
            </a:r>
            <a:r>
              <a:rPr lang="en-US" sz="2400" dirty="0" smtClean="0"/>
              <a:t>.</a:t>
            </a:r>
          </a:p>
          <a:p>
            <a:r>
              <a:rPr lang="en-US" sz="2400" dirty="0" smtClean="0"/>
              <a:t/>
            </a:r>
            <a:br>
              <a:rPr lang="en-US" sz="2400" dirty="0" smtClean="0"/>
            </a:br>
            <a:r>
              <a:rPr lang="en-US" sz="2400" dirty="0" smtClean="0"/>
              <a:t>Future analysis can be enhanced by incorporating demographic data, ad campaign metrics, and long-term user retention tracking to further improve personalization and marketing effectiveness.</a:t>
            </a:r>
            <a:endParaRPr lang="en-IN" sz="2400" dirty="0"/>
          </a:p>
        </p:txBody>
      </p:sp>
    </p:spTree>
    <p:extLst>
      <p:ext uri="{BB962C8B-B14F-4D97-AF65-F5344CB8AC3E}">
        <p14:creationId xmlns:p14="http://schemas.microsoft.com/office/powerpoint/2010/main" val="36571786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Recommendations</a:t>
            </a:r>
          </a:p>
        </p:txBody>
      </p:sp>
      <p:sp>
        <p:nvSpPr>
          <p:cNvPr id="9" name="TextBox 8"/>
          <p:cNvSpPr txBox="1"/>
          <p:nvPr/>
        </p:nvSpPr>
        <p:spPr>
          <a:xfrm>
            <a:off x="1097280" y="1880316"/>
            <a:ext cx="10058400" cy="3046988"/>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t>Prioritize high-engagement content themes</a:t>
            </a:r>
            <a:r>
              <a:rPr lang="en-US" sz="2400" dirty="0"/>
              <a:t> by promoting posts and hashtags that consistently receive higher likes and comments, as they drive stronger user interaction</a:t>
            </a:r>
            <a:r>
              <a:rPr lang="en-US" sz="2400" dirty="0" smtClean="0"/>
              <a:t>.</a:t>
            </a:r>
          </a:p>
          <a:p>
            <a:pPr marL="342900" indent="-342900">
              <a:buFont typeface="Wingdings" panose="05000000000000000000" pitchFamily="2" charset="2"/>
              <a:buChar char="Ø"/>
            </a:pPr>
            <a:r>
              <a:rPr lang="en-US" sz="2400" b="1" dirty="0"/>
              <a:t>Re-engage inactive users</a:t>
            </a:r>
            <a:r>
              <a:rPr lang="en-US" sz="2400" dirty="0"/>
              <a:t> through personalized notifications, content recommendations, and limited-time incentives to increase platform activity</a:t>
            </a:r>
            <a:r>
              <a:rPr lang="en-US" sz="2400" dirty="0" smtClean="0"/>
              <a:t>.</a:t>
            </a:r>
          </a:p>
          <a:p>
            <a:pPr marL="342900" indent="-342900">
              <a:buFont typeface="Wingdings" panose="05000000000000000000" pitchFamily="2" charset="2"/>
              <a:buChar char="Ø"/>
            </a:pPr>
            <a:r>
              <a:rPr lang="en-US" sz="2400" b="1" dirty="0"/>
              <a:t>Leverage top-performing users as influencers or brand advocates</a:t>
            </a:r>
            <a:r>
              <a:rPr lang="en-US" sz="2400" dirty="0"/>
              <a:t> by collaborating with accounts that show high engagement rates and strong follower growth.</a:t>
            </a:r>
            <a:endParaRPr lang="en-IN" sz="2400" dirty="0"/>
          </a:p>
        </p:txBody>
      </p:sp>
    </p:spTree>
    <p:extLst>
      <p:ext uri="{BB962C8B-B14F-4D97-AF65-F5344CB8AC3E}">
        <p14:creationId xmlns:p14="http://schemas.microsoft.com/office/powerpoint/2010/main" val="217603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1576" y="2511713"/>
            <a:ext cx="9905998" cy="1478570"/>
          </a:xfrm>
        </p:spPr>
        <p:txBody>
          <a:bodyPr/>
          <a:lstStyle/>
          <a:p>
            <a:r>
              <a:rPr lang="en-US" sz="8000" b="1" dirty="0" smtClean="0">
                <a:solidFill>
                  <a:schemeClr val="tx2"/>
                </a:solidFill>
                <a:effectLst>
                  <a:outerShdw blurRad="38100" dist="38100" dir="2700000" algn="tl">
                    <a:srgbClr val="000000">
                      <a:alpha val="43137"/>
                    </a:srgbClr>
                  </a:outerShdw>
                </a:effectLst>
              </a:rPr>
              <a:t>THANK YOU</a:t>
            </a:r>
            <a:endParaRPr lang="en-IN" sz="8000" b="1" dirty="0">
              <a:solidFill>
                <a:schemeClr val="tx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29795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4583</TotalTime>
  <Words>589</Words>
  <Application>Microsoft Office PowerPoint</Application>
  <PresentationFormat>Widescreen</PresentationFormat>
  <Paragraphs>54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vt:lpstr>
      <vt:lpstr>Wingdings</vt:lpstr>
      <vt:lpstr>Retrospect</vt:lpstr>
      <vt:lpstr>PowerPoint Presentation</vt:lpstr>
      <vt:lpstr>AGENDA</vt:lpstr>
      <vt:lpstr>Problem Statement</vt:lpstr>
      <vt:lpstr>Data description</vt:lpstr>
      <vt:lpstr>Schema</vt:lpstr>
      <vt:lpstr>Objectives, Key Metrics &amp; Approach</vt:lpstr>
      <vt:lpstr>Overall User Activity Overview</vt:lpstr>
      <vt:lpstr>Posting Time &amp; Engagement Trend</vt:lpstr>
      <vt:lpstr>High-Value and Loyal Users</vt:lpstr>
      <vt:lpstr>Impact of User-Generated Content on Targeted Advertising</vt:lpstr>
      <vt:lpstr>User Segmentation</vt:lpstr>
      <vt:lpstr>Inactive User Analysis</vt:lpstr>
      <vt:lpstr>Campaign Timing / Proxy Ad Effectiveness</vt:lpstr>
      <vt:lpstr>Conclusion &amp; Future Scope</vt:lpstr>
      <vt:lpstr>Recommendations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23</cp:revision>
  <dcterms:created xsi:type="dcterms:W3CDTF">2025-12-16T15:07:15Z</dcterms:created>
  <dcterms:modified xsi:type="dcterms:W3CDTF">2026-01-31T12:42:14Z</dcterms:modified>
</cp:coreProperties>
</file>